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Inter SemiBold"/>
      <p:regular r:id="rId12"/>
      <p:bold r:id="rId13"/>
      <p:italic r:id="rId14"/>
      <p:boldItalic r:id="rId15"/>
    </p:embeddedFont>
    <p:embeddedFont>
      <p:font typeface="Inter"/>
      <p:regular r:id="rId16"/>
      <p:bold r:id="rId17"/>
      <p:italic r:id="rId18"/>
      <p:boldItalic r:id="rId19"/>
    </p:embeddedFont>
    <p:embeddedFont>
      <p:font typeface="Inter ExtraBold"/>
      <p:bold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ExtraBold-bold.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InterExtraBold-boldItalic.fntdata"/><Relationship Id="rId13" Type="http://schemas.openxmlformats.org/officeDocument/2006/relationships/font" Target="fonts/InterSemiBold-bold.fntdata"/><Relationship Id="rId12" Type="http://schemas.openxmlformats.org/officeDocument/2006/relationships/font" Target="fonts/Inter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SemiBold-boldItalic.fntdata"/><Relationship Id="rId14" Type="http://schemas.openxmlformats.org/officeDocument/2006/relationships/font" Target="fonts/InterSemiBold-italic.fntdata"/><Relationship Id="rId17" Type="http://schemas.openxmlformats.org/officeDocument/2006/relationships/font" Target="fonts/Inter-bold.fntdata"/><Relationship Id="rId16" Type="http://schemas.openxmlformats.org/officeDocument/2006/relationships/font" Target="fonts/Inter-regular.fntdata"/><Relationship Id="rId5" Type="http://schemas.openxmlformats.org/officeDocument/2006/relationships/notesMaster" Target="notesMasters/notesMaster1.xml"/><Relationship Id="rId19" Type="http://schemas.openxmlformats.org/officeDocument/2006/relationships/font" Target="fonts/Inter-boldItalic.fntdata"/><Relationship Id="rId6" Type="http://schemas.openxmlformats.org/officeDocument/2006/relationships/slide" Target="slides/slide1.xml"/><Relationship Id="rId18" Type="http://schemas.openxmlformats.org/officeDocument/2006/relationships/font" Target="fonts/Inter-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24cc75252119d2a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24cc75252119d2a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ha0bee7e0f4bc20d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ha0bee7e0f4bc20d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24cc75252119d2a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h24cc75252119d2a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ha0bee7e0f4bc20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ha0bee7e0f4bc20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a0bee7e0f4bc2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a0bee7e0f4bc2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5400">
                <a:solidFill>
                  <a:srgbClr val="0F172A"/>
                </a:solidFill>
                <a:latin typeface="Inter ExtraBold"/>
                <a:ea typeface="Inter ExtraBold"/>
                <a:cs typeface="Inter ExtraBold"/>
                <a:sym typeface="Inter ExtraBold"/>
              </a:rPr>
              <a:t>ModStack</a:t>
            </a:r>
            <a:endParaRPr sz="5400"/>
          </a:p>
        </p:txBody>
      </p:sp>
      <p:sp>
        <p:nvSpPr>
          <p:cNvPr id="55" name="Google Shape;55;p13"/>
          <p:cNvSpPr txBox="1"/>
          <p:nvPr>
            <p:ph idx="1" type="subTitle"/>
          </p:nvPr>
        </p:nvSpPr>
        <p:spPr>
          <a:xfrm>
            <a:off x="311700" y="2834125"/>
            <a:ext cx="8520600" cy="1127700"/>
          </a:xfrm>
          <a:prstGeom prst="rect">
            <a:avLst/>
          </a:prstGeom>
        </p:spPr>
        <p:txBody>
          <a:bodyPr anchorCtr="0" anchor="t" bIns="91425" lIns="91425" spcFirstLastPara="1" rIns="91425" wrap="square" tIns="91425">
            <a:normAutofit lnSpcReduction="20000"/>
          </a:bodyPr>
          <a:lstStyle/>
          <a:p>
            <a:pPr indent="0" lvl="0" marL="0" rtl="0" algn="ctr">
              <a:lnSpc>
                <a:spcPct val="107916"/>
              </a:lnSpc>
              <a:spcBef>
                <a:spcPts val="0"/>
              </a:spcBef>
              <a:spcAft>
                <a:spcPts val="0"/>
              </a:spcAft>
              <a:buClr>
                <a:schemeClr val="dk1"/>
              </a:buClr>
              <a:buSzPts val="1100"/>
              <a:buFont typeface="Arial"/>
              <a:buNone/>
            </a:pPr>
            <a:r>
              <a:rPr b="1" lang="en" sz="1800">
                <a:solidFill>
                  <a:schemeClr val="dk1"/>
                </a:solidFill>
              </a:rPr>
              <a:t>Alizeh Jahan, Kevin Wu</a:t>
            </a:r>
            <a:endParaRPr b="1" sz="1800">
              <a:solidFill>
                <a:schemeClr val="dk1"/>
              </a:solidFill>
            </a:endParaRPr>
          </a:p>
          <a:p>
            <a:pPr indent="0" lvl="0" marL="0" rtl="0" algn="ctr">
              <a:lnSpc>
                <a:spcPct val="107916"/>
              </a:lnSpc>
              <a:spcBef>
                <a:spcPts val="800"/>
              </a:spcBef>
              <a:spcAft>
                <a:spcPts val="0"/>
              </a:spcAft>
              <a:buClr>
                <a:schemeClr val="dk1"/>
              </a:buClr>
              <a:buSzPts val="1100"/>
              <a:buFont typeface="Arial"/>
              <a:buNone/>
            </a:pPr>
            <a:r>
              <a:rPr b="1" lang="en" sz="1800">
                <a:solidFill>
                  <a:schemeClr val="dk1"/>
                </a:solidFill>
              </a:rPr>
              <a:t>CSE 111</a:t>
            </a:r>
            <a:endParaRPr b="1" sz="1800">
              <a:solidFill>
                <a:schemeClr val="dk1"/>
              </a:solidFill>
            </a:endParaRPr>
          </a:p>
          <a:p>
            <a:pPr indent="0" lvl="0" marL="0" rtl="0" algn="ctr">
              <a:lnSpc>
                <a:spcPct val="107916"/>
              </a:lnSpc>
              <a:spcBef>
                <a:spcPts val="800"/>
              </a:spcBef>
              <a:spcAft>
                <a:spcPts val="800"/>
              </a:spcAft>
              <a:buClr>
                <a:schemeClr val="dk1"/>
              </a:buClr>
              <a:buSzPts val="1100"/>
              <a:buFont typeface="Arial"/>
              <a:buNone/>
            </a:pPr>
            <a:r>
              <a:rPr b="1" lang="en" sz="1800">
                <a:solidFill>
                  <a:schemeClr val="dk1"/>
                </a:solidFill>
              </a:rPr>
              <a:t>Checkpoint 1</a:t>
            </a:r>
            <a:endParaRPr b="1"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grpSp>
        <p:nvGrpSpPr>
          <p:cNvPr id="60" name="Google Shape;60;p14"/>
          <p:cNvGrpSpPr/>
          <p:nvPr/>
        </p:nvGrpSpPr>
        <p:grpSpPr>
          <a:xfrm>
            <a:off x="438150" y="342900"/>
            <a:ext cx="8267700" cy="990600"/>
            <a:chOff x="0" y="0"/>
            <a:chExt cx="8267700" cy="990600"/>
          </a:xfrm>
        </p:grpSpPr>
        <p:sp>
          <p:nvSpPr>
            <p:cNvPr id="61" name="Google Shape;61;p14"/>
            <p:cNvSpPr txBox="1"/>
            <p:nvPr/>
          </p:nvSpPr>
          <p:spPr>
            <a:xfrm>
              <a:off x="0" y="0"/>
              <a:ext cx="82677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0F172A"/>
                  </a:solidFill>
                  <a:latin typeface="Inter ExtraBold"/>
                  <a:ea typeface="Inter ExtraBold"/>
                  <a:cs typeface="Inter ExtraBold"/>
                  <a:sym typeface="Inter ExtraBold"/>
                </a:rPr>
                <a:t>Synopsis</a:t>
              </a:r>
              <a:endParaRPr b="0" sz="2600">
                <a:solidFill>
                  <a:srgbClr val="0F172A"/>
                </a:solidFill>
                <a:latin typeface="Inter ExtraBold"/>
                <a:ea typeface="Inter ExtraBold"/>
                <a:cs typeface="Inter ExtraBold"/>
                <a:sym typeface="Inter ExtraBold"/>
              </a:endParaRPr>
            </a:p>
          </p:txBody>
        </p:sp>
        <p:sp>
          <p:nvSpPr>
            <p:cNvPr id="62" name="Google Shape;62;p14"/>
            <p:cNvSpPr txBox="1"/>
            <p:nvPr/>
          </p:nvSpPr>
          <p:spPr>
            <a:xfrm>
              <a:off x="0" y="419100"/>
              <a:ext cx="82677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334155"/>
                  </a:solidFill>
                  <a:latin typeface="Inter"/>
                  <a:ea typeface="Inter"/>
                  <a:cs typeface="Inter"/>
                  <a:sym typeface="Inter"/>
                </a:rPr>
                <a:t>Game Mod Tracker is a database application designed to organize and manage information about video games and their mods. The system helps users find and track mods by storing comprehensive metadata, managing user interactions, and generating insights.</a:t>
              </a:r>
              <a:endParaRPr b="0" sz="1200">
                <a:solidFill>
                  <a:srgbClr val="334155"/>
                </a:solidFill>
                <a:latin typeface="Inter"/>
                <a:ea typeface="Inter"/>
                <a:cs typeface="Inter"/>
                <a:sym typeface="Inter"/>
              </a:endParaRPr>
            </a:p>
          </p:txBody>
        </p:sp>
      </p:grpSp>
      <p:grpSp>
        <p:nvGrpSpPr>
          <p:cNvPr id="63" name="Google Shape;63;p14"/>
          <p:cNvGrpSpPr/>
          <p:nvPr/>
        </p:nvGrpSpPr>
        <p:grpSpPr>
          <a:xfrm>
            <a:off x="438150" y="1524000"/>
            <a:ext cx="2628900" cy="3095700"/>
            <a:chOff x="0" y="0"/>
            <a:chExt cx="2628900" cy="3095700"/>
          </a:xfrm>
        </p:grpSpPr>
        <p:sp>
          <p:nvSpPr>
            <p:cNvPr id="64" name="Google Shape;64;p14"/>
            <p:cNvSpPr/>
            <p:nvPr/>
          </p:nvSpPr>
          <p:spPr>
            <a:xfrm>
              <a:off x="0" y="0"/>
              <a:ext cx="2628900" cy="3095700"/>
            </a:xfrm>
            <a:prstGeom prst="roundRect">
              <a:avLst>
                <a:gd fmla="val 434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p:nvPr/>
          </p:nvSpPr>
          <p:spPr>
            <a:xfrm>
              <a:off x="190500" y="190500"/>
              <a:ext cx="342900" cy="342900"/>
            </a:xfrm>
            <a:prstGeom prst="roundRect">
              <a:avLst>
                <a:gd fmla="val 22222"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 name="Google Shape;66;p14"/>
            <p:cNvSpPr txBox="1"/>
            <p:nvPr/>
          </p:nvSpPr>
          <p:spPr>
            <a:xfrm>
              <a:off x="190500" y="2167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2563EB"/>
                  </a:solidFill>
                  <a:latin typeface="Material Icons"/>
                  <a:ea typeface="Material Icons"/>
                  <a:cs typeface="Material Icons"/>
                  <a:sym typeface="Material Icons"/>
                </a:rPr>
                <a:t>storage</a:t>
              </a:r>
              <a:endParaRPr sz="1800">
                <a:solidFill>
                  <a:srgbClr val="2563EB"/>
                </a:solidFill>
                <a:latin typeface="Material Icons"/>
                <a:ea typeface="Material Icons"/>
                <a:cs typeface="Material Icons"/>
                <a:sym typeface="Material Icons"/>
              </a:endParaRPr>
            </a:p>
          </p:txBody>
        </p:sp>
        <p:sp>
          <p:nvSpPr>
            <p:cNvPr id="67" name="Google Shape;67;p14"/>
            <p:cNvSpPr txBox="1"/>
            <p:nvPr/>
          </p:nvSpPr>
          <p:spPr>
            <a:xfrm>
              <a:off x="190500" y="647700"/>
              <a:ext cx="2247900" cy="22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E293B"/>
                  </a:solidFill>
                  <a:latin typeface="Inter"/>
                  <a:ea typeface="Inter"/>
                  <a:cs typeface="Inter"/>
                  <a:sym typeface="Inter"/>
                </a:rPr>
                <a:t>Tracked Information</a:t>
              </a:r>
              <a:endParaRPr b="1" sz="1300">
                <a:solidFill>
                  <a:srgbClr val="1E293B"/>
                </a:solidFill>
                <a:latin typeface="Inter"/>
                <a:ea typeface="Inter"/>
                <a:cs typeface="Inter"/>
                <a:sym typeface="Inter"/>
              </a:endParaRPr>
            </a:p>
            <a:p>
              <a:pPr indent="0" lvl="0" marL="0" rtl="0" algn="l">
                <a:spcBef>
                  <a:spcPts val="900"/>
                </a:spcBef>
                <a:spcAft>
                  <a:spcPts val="0"/>
                </a:spcAft>
                <a:buNone/>
              </a:pPr>
              <a:r>
                <a:rPr lang="en" sz="1050">
                  <a:solidFill>
                    <a:srgbClr val="475569"/>
                  </a:solidFill>
                  <a:latin typeface="Inter"/>
                  <a:ea typeface="Inter"/>
                  <a:cs typeface="Inter"/>
                  <a:sym typeface="Inter"/>
                </a:rPr>
                <a:t>Stores key data points to help users seamlessly find and track mods:</a:t>
              </a:r>
              <a:endParaRPr sz="1050">
                <a:solidFill>
                  <a:srgbClr val="475569"/>
                </a:solidFill>
                <a:latin typeface="Inter"/>
                <a:ea typeface="Inter"/>
                <a:cs typeface="Inter"/>
                <a:sym typeface="Inter"/>
              </a:endParaRPr>
            </a:p>
            <a:p>
              <a:pPr indent="-298450" lvl="0" marL="457200" rtl="0" algn="l">
                <a:spcBef>
                  <a:spcPts val="1050"/>
                </a:spcBef>
                <a:spcAft>
                  <a:spcPts val="0"/>
                </a:spcAft>
                <a:buClr>
                  <a:srgbClr val="334155"/>
                </a:buClr>
                <a:buSzPts val="1100"/>
                <a:buFont typeface="Inter"/>
                <a:buChar char="●"/>
              </a:pPr>
              <a:r>
                <a:rPr lang="en" sz="1100">
                  <a:solidFill>
                    <a:srgbClr val="334155"/>
                  </a:solidFill>
                  <a:latin typeface="Inter"/>
                  <a:ea typeface="Inter"/>
                  <a:cs typeface="Inter"/>
                  <a:sym typeface="Inter"/>
                </a:rPr>
                <a:t>Mod versions &amp; categories</a:t>
              </a:r>
              <a:endParaRPr sz="1100">
                <a:solidFill>
                  <a:srgbClr val="334155"/>
                </a:solidFill>
                <a:latin typeface="Inter"/>
                <a:ea typeface="Inter"/>
                <a:cs typeface="Inter"/>
                <a:sym typeface="Inter"/>
              </a:endParaRPr>
            </a:p>
            <a:p>
              <a:pPr indent="-298450" lvl="0" marL="457200" rtl="0" algn="l">
                <a:spcBef>
                  <a:spcPts val="450"/>
                </a:spcBef>
                <a:spcAft>
                  <a:spcPts val="0"/>
                </a:spcAft>
                <a:buClr>
                  <a:srgbClr val="334155"/>
                </a:buClr>
                <a:buSzPts val="1100"/>
                <a:buFont typeface="Inter"/>
                <a:buChar char="●"/>
              </a:pPr>
              <a:r>
                <a:rPr lang="en" sz="1100">
                  <a:solidFill>
                    <a:srgbClr val="334155"/>
                  </a:solidFill>
                  <a:latin typeface="Inter"/>
                  <a:ea typeface="Inter"/>
                  <a:cs typeface="Inter"/>
                  <a:sym typeface="Inter"/>
                </a:rPr>
                <a:t>Developers &amp; supported platforms</a:t>
              </a:r>
              <a:endParaRPr sz="1100">
                <a:solidFill>
                  <a:srgbClr val="334155"/>
                </a:solidFill>
                <a:latin typeface="Inter"/>
                <a:ea typeface="Inter"/>
                <a:cs typeface="Inter"/>
                <a:sym typeface="Inter"/>
              </a:endParaRPr>
            </a:p>
            <a:p>
              <a:pPr indent="-298450" lvl="0" marL="457200" rtl="0" algn="l">
                <a:spcBef>
                  <a:spcPts val="450"/>
                </a:spcBef>
                <a:spcAft>
                  <a:spcPts val="0"/>
                </a:spcAft>
                <a:buClr>
                  <a:srgbClr val="334155"/>
                </a:buClr>
                <a:buSzPts val="1100"/>
                <a:buFont typeface="Inter"/>
                <a:buChar char="●"/>
              </a:pPr>
              <a:r>
                <a:rPr lang="en" sz="1100">
                  <a:solidFill>
                    <a:srgbClr val="334155"/>
                  </a:solidFill>
                  <a:latin typeface="Inter"/>
                  <a:ea typeface="Inter"/>
                  <a:cs typeface="Inter"/>
                  <a:sym typeface="Inter"/>
                </a:rPr>
                <a:t>Download counts</a:t>
              </a:r>
              <a:endParaRPr sz="1100">
                <a:solidFill>
                  <a:srgbClr val="334155"/>
                </a:solidFill>
                <a:latin typeface="Inter"/>
                <a:ea typeface="Inter"/>
                <a:cs typeface="Inter"/>
                <a:sym typeface="Inter"/>
              </a:endParaRPr>
            </a:p>
            <a:p>
              <a:pPr indent="-298450" lvl="0" marL="457200" rtl="0" algn="l">
                <a:spcBef>
                  <a:spcPts val="450"/>
                </a:spcBef>
                <a:spcAft>
                  <a:spcPts val="450"/>
                </a:spcAft>
                <a:buClr>
                  <a:srgbClr val="334155"/>
                </a:buClr>
                <a:buSzPts val="1100"/>
                <a:buFont typeface="Inter"/>
                <a:buChar char="●"/>
              </a:pPr>
              <a:r>
                <a:rPr lang="en" sz="1100">
                  <a:solidFill>
                    <a:srgbClr val="334155"/>
                  </a:solidFill>
                  <a:latin typeface="Inter"/>
                  <a:ea typeface="Inter"/>
                  <a:cs typeface="Inter"/>
                  <a:sym typeface="Inter"/>
                </a:rPr>
                <a:t>Game version compatibility</a:t>
              </a:r>
              <a:endParaRPr sz="1100">
                <a:solidFill>
                  <a:srgbClr val="334155"/>
                </a:solidFill>
                <a:latin typeface="Inter"/>
                <a:ea typeface="Inter"/>
                <a:cs typeface="Inter"/>
                <a:sym typeface="Inter"/>
              </a:endParaRPr>
            </a:p>
          </p:txBody>
        </p:sp>
      </p:grpSp>
      <p:grpSp>
        <p:nvGrpSpPr>
          <p:cNvPr id="68" name="Google Shape;68;p14"/>
          <p:cNvGrpSpPr/>
          <p:nvPr/>
        </p:nvGrpSpPr>
        <p:grpSpPr>
          <a:xfrm>
            <a:off x="3257550" y="1524000"/>
            <a:ext cx="2628900" cy="3095700"/>
            <a:chOff x="0" y="0"/>
            <a:chExt cx="2628900" cy="3095700"/>
          </a:xfrm>
        </p:grpSpPr>
        <p:sp>
          <p:nvSpPr>
            <p:cNvPr id="69" name="Google Shape;69;p14"/>
            <p:cNvSpPr/>
            <p:nvPr/>
          </p:nvSpPr>
          <p:spPr>
            <a:xfrm>
              <a:off x="0" y="0"/>
              <a:ext cx="2628900" cy="3095700"/>
            </a:xfrm>
            <a:prstGeom prst="roundRect">
              <a:avLst>
                <a:gd fmla="val 434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14"/>
            <p:cNvSpPr/>
            <p:nvPr/>
          </p:nvSpPr>
          <p:spPr>
            <a:xfrm>
              <a:off x="190500" y="190500"/>
              <a:ext cx="342900" cy="342900"/>
            </a:xfrm>
            <a:prstGeom prst="roundRect">
              <a:avLst>
                <a:gd fmla="val 22222" name="adj"/>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14"/>
            <p:cNvSpPr txBox="1"/>
            <p:nvPr/>
          </p:nvSpPr>
          <p:spPr>
            <a:xfrm>
              <a:off x="190500" y="2167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16A34A"/>
                  </a:solidFill>
                  <a:latin typeface="Material Icons"/>
                  <a:ea typeface="Material Icons"/>
                  <a:cs typeface="Material Icons"/>
                  <a:sym typeface="Material Icons"/>
                </a:rPr>
                <a:t>group</a:t>
              </a:r>
              <a:endParaRPr sz="1800">
                <a:solidFill>
                  <a:srgbClr val="16A34A"/>
                </a:solidFill>
                <a:latin typeface="Material Icons"/>
                <a:ea typeface="Material Icons"/>
                <a:cs typeface="Material Icons"/>
                <a:sym typeface="Material Icons"/>
              </a:endParaRPr>
            </a:p>
          </p:txBody>
        </p:sp>
        <p:sp>
          <p:nvSpPr>
            <p:cNvPr id="72" name="Google Shape;72;p14"/>
            <p:cNvSpPr txBox="1"/>
            <p:nvPr/>
          </p:nvSpPr>
          <p:spPr>
            <a:xfrm>
              <a:off x="190500" y="647700"/>
              <a:ext cx="2247900" cy="22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E293B"/>
                  </a:solidFill>
                  <a:latin typeface="Inter"/>
                  <a:ea typeface="Inter"/>
                  <a:cs typeface="Inter"/>
                  <a:sym typeface="Inter"/>
                </a:rPr>
                <a:t>Main User Roles</a:t>
              </a:r>
              <a:endParaRPr b="1" sz="1300">
                <a:solidFill>
                  <a:srgbClr val="1E293B"/>
                </a:solidFill>
                <a:latin typeface="Inter"/>
                <a:ea typeface="Inter"/>
                <a:cs typeface="Inter"/>
                <a:sym typeface="Inter"/>
              </a:endParaRPr>
            </a:p>
            <a:p>
              <a:pPr indent="0" lvl="0" marL="0" rtl="0" algn="l">
                <a:spcBef>
                  <a:spcPts val="900"/>
                </a:spcBef>
                <a:spcAft>
                  <a:spcPts val="0"/>
                </a:spcAft>
                <a:buNone/>
              </a:pPr>
              <a:r>
                <a:rPr lang="en" sz="1050">
                  <a:solidFill>
                    <a:srgbClr val="475569"/>
                  </a:solidFill>
                  <a:latin typeface="Inter"/>
                  <a:ea typeface="Inter"/>
                  <a:cs typeface="Inter"/>
                  <a:sym typeface="Inter"/>
                </a:rPr>
                <a:t>Three key groups interact with the database:</a:t>
              </a:r>
              <a:endParaRPr sz="1050">
                <a:solidFill>
                  <a:srgbClr val="475569"/>
                </a:solidFill>
                <a:latin typeface="Inter"/>
                <a:ea typeface="Inter"/>
                <a:cs typeface="Inter"/>
                <a:sym typeface="Inter"/>
              </a:endParaRPr>
            </a:p>
            <a:p>
              <a:pPr indent="0" lvl="0" marL="0" rtl="0" algn="l">
                <a:spcBef>
                  <a:spcPts val="750"/>
                </a:spcBef>
                <a:spcAft>
                  <a:spcPts val="0"/>
                </a:spcAft>
                <a:buNone/>
              </a:pPr>
              <a:r>
                <a:rPr b="1" lang="en" sz="1000">
                  <a:solidFill>
                    <a:srgbClr val="16A34A"/>
                  </a:solidFill>
                  <a:latin typeface="Inter"/>
                  <a:ea typeface="Inter"/>
                  <a:cs typeface="Inter"/>
                  <a:sym typeface="Inter"/>
                </a:rPr>
                <a:t>Gamers:</a:t>
              </a:r>
              <a:r>
                <a:rPr lang="en" sz="1000">
                  <a:solidFill>
                    <a:srgbClr val="1E293B"/>
                  </a:solidFill>
                  <a:latin typeface="Inter"/>
                  <a:ea typeface="Inter"/>
                  <a:cs typeface="Inter"/>
                  <a:sym typeface="Inter"/>
                </a:rPr>
                <a:t> Search mods, check compatibility, &amp; leave ratings/reviews</a:t>
              </a:r>
              <a:endParaRPr sz="1000">
                <a:solidFill>
                  <a:srgbClr val="1E293B"/>
                </a:solidFill>
                <a:latin typeface="Inter"/>
                <a:ea typeface="Inter"/>
                <a:cs typeface="Inter"/>
                <a:sym typeface="Inter"/>
              </a:endParaRPr>
            </a:p>
            <a:p>
              <a:pPr indent="0" lvl="0" marL="0" rtl="0" algn="l">
                <a:spcBef>
                  <a:spcPts val="450"/>
                </a:spcBef>
                <a:spcAft>
                  <a:spcPts val="0"/>
                </a:spcAft>
                <a:buNone/>
              </a:pPr>
              <a:r>
                <a:rPr b="1" lang="en" sz="1000">
                  <a:solidFill>
                    <a:srgbClr val="16A34A"/>
                  </a:solidFill>
                  <a:latin typeface="Inter"/>
                  <a:ea typeface="Inter"/>
                  <a:cs typeface="Inter"/>
                  <a:sym typeface="Inter"/>
                </a:rPr>
                <a:t>Mod Developers:</a:t>
              </a:r>
              <a:r>
                <a:rPr lang="en" sz="1000">
                  <a:solidFill>
                    <a:srgbClr val="1E293B"/>
                  </a:solidFill>
                  <a:latin typeface="Inter"/>
                  <a:ea typeface="Inter"/>
                  <a:cs typeface="Inter"/>
                  <a:sym typeface="Inter"/>
                </a:rPr>
                <a:t> Manage mod releases &amp; update details</a:t>
              </a:r>
              <a:endParaRPr sz="1000">
                <a:solidFill>
                  <a:srgbClr val="1E293B"/>
                </a:solidFill>
                <a:latin typeface="Inter"/>
                <a:ea typeface="Inter"/>
                <a:cs typeface="Inter"/>
                <a:sym typeface="Inter"/>
              </a:endParaRPr>
            </a:p>
            <a:p>
              <a:pPr indent="0" lvl="0" marL="0" rtl="0" algn="l">
                <a:spcBef>
                  <a:spcPts val="450"/>
                </a:spcBef>
                <a:spcAft>
                  <a:spcPts val="0"/>
                </a:spcAft>
                <a:buNone/>
              </a:pPr>
              <a:r>
                <a:rPr b="1" lang="en" sz="1000">
                  <a:solidFill>
                    <a:srgbClr val="16A34A"/>
                  </a:solidFill>
                  <a:latin typeface="Inter"/>
                  <a:ea typeface="Inter"/>
                  <a:cs typeface="Inter"/>
                  <a:sym typeface="Inter"/>
                </a:rPr>
                <a:t>Administrators:</a:t>
              </a:r>
              <a:r>
                <a:rPr lang="en" sz="1000">
                  <a:solidFill>
                    <a:srgbClr val="1E293B"/>
                  </a:solidFill>
                  <a:latin typeface="Inter"/>
                  <a:ea typeface="Inter"/>
                  <a:cs typeface="Inter"/>
                  <a:sym typeface="Inter"/>
                </a:rPr>
                <a:t> Oversee database operations &amp; system info</a:t>
              </a:r>
              <a:endParaRPr sz="1000">
                <a:solidFill>
                  <a:srgbClr val="1E293B"/>
                </a:solidFill>
                <a:latin typeface="Inter"/>
                <a:ea typeface="Inter"/>
                <a:cs typeface="Inter"/>
                <a:sym typeface="Inter"/>
              </a:endParaRPr>
            </a:p>
          </p:txBody>
        </p:sp>
      </p:grpSp>
      <p:grpSp>
        <p:nvGrpSpPr>
          <p:cNvPr id="73" name="Google Shape;73;p14"/>
          <p:cNvGrpSpPr/>
          <p:nvPr/>
        </p:nvGrpSpPr>
        <p:grpSpPr>
          <a:xfrm>
            <a:off x="6076950" y="1524000"/>
            <a:ext cx="2628900" cy="3095700"/>
            <a:chOff x="0" y="0"/>
            <a:chExt cx="2628900" cy="3095700"/>
          </a:xfrm>
        </p:grpSpPr>
        <p:sp>
          <p:nvSpPr>
            <p:cNvPr id="74" name="Google Shape;74;p14"/>
            <p:cNvSpPr/>
            <p:nvPr/>
          </p:nvSpPr>
          <p:spPr>
            <a:xfrm>
              <a:off x="0" y="0"/>
              <a:ext cx="2628900" cy="3095700"/>
            </a:xfrm>
            <a:prstGeom prst="roundRect">
              <a:avLst>
                <a:gd fmla="val 434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4"/>
            <p:cNvSpPr/>
            <p:nvPr/>
          </p:nvSpPr>
          <p:spPr>
            <a:xfrm>
              <a:off x="190500" y="190500"/>
              <a:ext cx="342900" cy="342900"/>
            </a:xfrm>
            <a:prstGeom prst="roundRect">
              <a:avLst>
                <a:gd fmla="val 22222" name="adj"/>
              </a:avLst>
            </a:prstGeom>
            <a:solidFill>
              <a:srgbClr val="FAF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4"/>
            <p:cNvSpPr txBox="1"/>
            <p:nvPr/>
          </p:nvSpPr>
          <p:spPr>
            <a:xfrm>
              <a:off x="190500" y="2167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9333EA"/>
                  </a:solidFill>
                  <a:latin typeface="Material Icons"/>
                  <a:ea typeface="Material Icons"/>
                  <a:cs typeface="Material Icons"/>
                  <a:sym typeface="Material Icons"/>
                </a:rPr>
                <a:t>bar_chart</a:t>
              </a:r>
              <a:endParaRPr sz="1800">
                <a:solidFill>
                  <a:srgbClr val="9333EA"/>
                </a:solidFill>
                <a:latin typeface="Material Icons"/>
                <a:ea typeface="Material Icons"/>
                <a:cs typeface="Material Icons"/>
                <a:sym typeface="Material Icons"/>
              </a:endParaRPr>
            </a:p>
          </p:txBody>
        </p:sp>
        <p:sp>
          <p:nvSpPr>
            <p:cNvPr id="77" name="Google Shape;77;p14"/>
            <p:cNvSpPr txBox="1"/>
            <p:nvPr/>
          </p:nvSpPr>
          <p:spPr>
            <a:xfrm>
              <a:off x="190500" y="647700"/>
              <a:ext cx="2247900" cy="22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E293B"/>
                  </a:solidFill>
                  <a:latin typeface="Inter"/>
                  <a:ea typeface="Inter"/>
                  <a:cs typeface="Inter"/>
                  <a:sym typeface="Inter"/>
                </a:rPr>
                <a:t>Reports &amp; Analytics</a:t>
              </a:r>
              <a:endParaRPr b="1" sz="1300">
                <a:solidFill>
                  <a:srgbClr val="1E293B"/>
                </a:solidFill>
                <a:latin typeface="Inter"/>
                <a:ea typeface="Inter"/>
                <a:cs typeface="Inter"/>
                <a:sym typeface="Inter"/>
              </a:endParaRPr>
            </a:p>
            <a:p>
              <a:pPr indent="0" lvl="0" marL="0" rtl="0" algn="l">
                <a:spcBef>
                  <a:spcPts val="900"/>
                </a:spcBef>
                <a:spcAft>
                  <a:spcPts val="0"/>
                </a:spcAft>
                <a:buNone/>
              </a:pPr>
              <a:r>
                <a:rPr lang="en" sz="1050">
                  <a:solidFill>
                    <a:srgbClr val="475569"/>
                  </a:solidFill>
                  <a:latin typeface="Inter"/>
                  <a:ea typeface="Inter"/>
                  <a:cs typeface="Inter"/>
                  <a:sym typeface="Inter"/>
                </a:rPr>
                <a:t>Allows users to generate valuable insights and reports on:</a:t>
              </a:r>
              <a:endParaRPr sz="1050">
                <a:solidFill>
                  <a:srgbClr val="475569"/>
                </a:solidFill>
                <a:latin typeface="Inter"/>
                <a:ea typeface="Inter"/>
                <a:cs typeface="Inter"/>
                <a:sym typeface="Inter"/>
              </a:endParaRPr>
            </a:p>
            <a:p>
              <a:pPr indent="-298450" lvl="0" marL="457200" rtl="0" algn="l">
                <a:spcBef>
                  <a:spcPts val="1050"/>
                </a:spcBef>
                <a:spcAft>
                  <a:spcPts val="0"/>
                </a:spcAft>
                <a:buClr>
                  <a:srgbClr val="334155"/>
                </a:buClr>
                <a:buSzPts val="1100"/>
                <a:buFont typeface="Inter"/>
                <a:buChar char="●"/>
              </a:pPr>
              <a:r>
                <a:rPr lang="en" sz="1100">
                  <a:solidFill>
                    <a:srgbClr val="334155"/>
                  </a:solidFill>
                  <a:latin typeface="Inter"/>
                  <a:ea typeface="Inter"/>
                  <a:cs typeface="Inter"/>
                  <a:sym typeface="Inter"/>
                </a:rPr>
                <a:t>The most popular mods</a:t>
              </a:r>
              <a:endParaRPr sz="1100">
                <a:solidFill>
                  <a:srgbClr val="334155"/>
                </a:solidFill>
                <a:latin typeface="Inter"/>
                <a:ea typeface="Inter"/>
                <a:cs typeface="Inter"/>
                <a:sym typeface="Inter"/>
              </a:endParaRPr>
            </a:p>
            <a:p>
              <a:pPr indent="-298450" lvl="0" marL="457200" rtl="0" algn="l">
                <a:spcBef>
                  <a:spcPts val="600"/>
                </a:spcBef>
                <a:spcAft>
                  <a:spcPts val="0"/>
                </a:spcAft>
                <a:buClr>
                  <a:srgbClr val="334155"/>
                </a:buClr>
                <a:buSzPts val="1100"/>
                <a:buFont typeface="Inter"/>
                <a:buChar char="●"/>
              </a:pPr>
              <a:r>
                <a:rPr lang="en" sz="1100">
                  <a:solidFill>
                    <a:srgbClr val="334155"/>
                  </a:solidFill>
                  <a:latin typeface="Inter"/>
                  <a:ea typeface="Inter"/>
                  <a:cs typeface="Inter"/>
                  <a:sym typeface="Inter"/>
                </a:rPr>
                <a:t>Games with the most mods</a:t>
              </a:r>
              <a:endParaRPr sz="1100">
                <a:solidFill>
                  <a:srgbClr val="334155"/>
                </a:solidFill>
                <a:latin typeface="Inter"/>
                <a:ea typeface="Inter"/>
                <a:cs typeface="Inter"/>
                <a:sym typeface="Inter"/>
              </a:endParaRPr>
            </a:p>
            <a:p>
              <a:pPr indent="-298450" lvl="0" marL="457200" rtl="0" algn="l">
                <a:spcBef>
                  <a:spcPts val="600"/>
                </a:spcBef>
                <a:spcAft>
                  <a:spcPts val="600"/>
                </a:spcAft>
                <a:buClr>
                  <a:srgbClr val="334155"/>
                </a:buClr>
                <a:buSzPts val="1100"/>
                <a:buFont typeface="Inter"/>
                <a:buChar char="●"/>
              </a:pPr>
              <a:r>
                <a:rPr lang="en" sz="1100">
                  <a:solidFill>
                    <a:srgbClr val="334155"/>
                  </a:solidFill>
                  <a:latin typeface="Inter"/>
                  <a:ea typeface="Inter"/>
                  <a:cs typeface="Inter"/>
                  <a:sym typeface="Inter"/>
                </a:rPr>
                <a:t>Commonly used mod categories</a:t>
              </a:r>
              <a:endParaRPr sz="1100">
                <a:solidFill>
                  <a:srgbClr val="334155"/>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grpSp>
        <p:nvGrpSpPr>
          <p:cNvPr id="82" name="Google Shape;82;p15"/>
          <p:cNvGrpSpPr/>
          <p:nvPr/>
        </p:nvGrpSpPr>
        <p:grpSpPr>
          <a:xfrm>
            <a:off x="438150" y="342900"/>
            <a:ext cx="8267700" cy="647700"/>
            <a:chOff x="0" y="0"/>
            <a:chExt cx="8267700" cy="647700"/>
          </a:xfrm>
        </p:grpSpPr>
        <p:sp>
          <p:nvSpPr>
            <p:cNvPr id="83" name="Google Shape;83;p15"/>
            <p:cNvSpPr txBox="1"/>
            <p:nvPr/>
          </p:nvSpPr>
          <p:spPr>
            <a:xfrm>
              <a:off x="0" y="0"/>
              <a:ext cx="82677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0F172A"/>
                  </a:solidFill>
                  <a:latin typeface="Inter ExtraBold"/>
                  <a:ea typeface="Inter ExtraBold"/>
                  <a:cs typeface="Inter ExtraBold"/>
                  <a:sym typeface="Inter ExtraBold"/>
                </a:rPr>
                <a:t>Main Use Case</a:t>
              </a:r>
              <a:endParaRPr b="0" sz="2600">
                <a:solidFill>
                  <a:srgbClr val="0F172A"/>
                </a:solidFill>
                <a:latin typeface="Inter ExtraBold"/>
                <a:ea typeface="Inter ExtraBold"/>
                <a:cs typeface="Inter ExtraBold"/>
                <a:sym typeface="Inter ExtraBold"/>
              </a:endParaRPr>
            </a:p>
          </p:txBody>
        </p:sp>
        <p:sp>
          <p:nvSpPr>
            <p:cNvPr id="84" name="Google Shape;84;p15"/>
            <p:cNvSpPr txBox="1"/>
            <p:nvPr/>
          </p:nvSpPr>
          <p:spPr>
            <a:xfrm>
              <a:off x="0" y="419100"/>
              <a:ext cx="82677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solidFill>
                    <a:srgbClr val="64748B"/>
                  </a:solidFill>
                  <a:latin typeface="Inter"/>
                  <a:ea typeface="Inter"/>
                  <a:cs typeface="Inter"/>
                  <a:sym typeface="Inter"/>
                </a:rPr>
                <a:t>Workflow for mods</a:t>
              </a:r>
              <a:endParaRPr b="0" sz="1100">
                <a:solidFill>
                  <a:srgbClr val="64748B"/>
                </a:solidFill>
                <a:latin typeface="Inter"/>
                <a:ea typeface="Inter"/>
                <a:cs typeface="Inter"/>
                <a:sym typeface="Inter"/>
              </a:endParaRPr>
            </a:p>
          </p:txBody>
        </p:sp>
      </p:grpSp>
      <p:grpSp>
        <p:nvGrpSpPr>
          <p:cNvPr id="85" name="Google Shape;85;p15"/>
          <p:cNvGrpSpPr/>
          <p:nvPr/>
        </p:nvGrpSpPr>
        <p:grpSpPr>
          <a:xfrm>
            <a:off x="438150" y="1143000"/>
            <a:ext cx="2667000" cy="1638300"/>
            <a:chOff x="0" y="0"/>
            <a:chExt cx="2667000" cy="1638300"/>
          </a:xfrm>
        </p:grpSpPr>
        <p:sp>
          <p:nvSpPr>
            <p:cNvPr id="86" name="Google Shape;86;p15"/>
            <p:cNvSpPr/>
            <p:nvPr/>
          </p:nvSpPr>
          <p:spPr>
            <a:xfrm>
              <a:off x="0" y="0"/>
              <a:ext cx="2667000" cy="1638300"/>
            </a:xfrm>
            <a:prstGeom prst="roundRect">
              <a:avLst>
                <a:gd fmla="val 697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5"/>
            <p:cNvSpPr/>
            <p:nvPr/>
          </p:nvSpPr>
          <p:spPr>
            <a:xfrm>
              <a:off x="171450" y="171450"/>
              <a:ext cx="342900" cy="342900"/>
            </a:xfrm>
            <a:prstGeom prst="roundRect">
              <a:avLst>
                <a:gd fmla="val 22222"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5"/>
            <p:cNvSpPr txBox="1"/>
            <p:nvPr/>
          </p:nvSpPr>
          <p:spPr>
            <a:xfrm>
              <a:off x="171450" y="17145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475569"/>
                  </a:solidFill>
                  <a:latin typeface="Inter"/>
                  <a:ea typeface="Inter"/>
                  <a:cs typeface="Inter"/>
                  <a:sym typeface="Inter"/>
                </a:rPr>
                <a:t>01</a:t>
              </a:r>
              <a:endParaRPr b="1" sz="1200">
                <a:solidFill>
                  <a:srgbClr val="475569"/>
                </a:solidFill>
                <a:latin typeface="Inter"/>
                <a:ea typeface="Inter"/>
                <a:cs typeface="Inter"/>
                <a:sym typeface="Inter"/>
              </a:endParaRPr>
            </a:p>
          </p:txBody>
        </p:sp>
        <p:sp>
          <p:nvSpPr>
            <p:cNvPr id="89" name="Google Shape;89;p15"/>
            <p:cNvSpPr/>
            <p:nvPr/>
          </p:nvSpPr>
          <p:spPr>
            <a:xfrm>
              <a:off x="1695450" y="219075"/>
              <a:ext cx="8001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 name="Google Shape;90;p15"/>
            <p:cNvSpPr txBox="1"/>
            <p:nvPr/>
          </p:nvSpPr>
          <p:spPr>
            <a:xfrm>
              <a:off x="1695450" y="219075"/>
              <a:ext cx="800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2563EB"/>
                  </a:solidFill>
                  <a:latin typeface="Inter"/>
                  <a:ea typeface="Inter"/>
                  <a:cs typeface="Inter"/>
                  <a:sym typeface="Inter"/>
                </a:rPr>
                <a:t>GAMER</a:t>
              </a:r>
              <a:endParaRPr b="1" sz="850">
                <a:solidFill>
                  <a:srgbClr val="2563EB"/>
                </a:solidFill>
                <a:latin typeface="Inter"/>
                <a:ea typeface="Inter"/>
                <a:cs typeface="Inter"/>
                <a:sym typeface="Inter"/>
              </a:endParaRPr>
            </a:p>
          </p:txBody>
        </p:sp>
        <p:sp>
          <p:nvSpPr>
            <p:cNvPr id="91" name="Google Shape;91;p15"/>
            <p:cNvSpPr txBox="1"/>
            <p:nvPr/>
          </p:nvSpPr>
          <p:spPr>
            <a:xfrm>
              <a:off x="171450" y="647700"/>
              <a:ext cx="23241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1E293B"/>
                  </a:solidFill>
                  <a:latin typeface="Inter SemiBold"/>
                  <a:ea typeface="Inter SemiBold"/>
                  <a:cs typeface="Inter SemiBold"/>
                  <a:sym typeface="Inter SemiBold"/>
                </a:rPr>
                <a:t>Gamer searches for a mod by game or category.</a:t>
              </a:r>
              <a:endParaRPr b="0" sz="1200">
                <a:solidFill>
                  <a:srgbClr val="1E293B"/>
                </a:solidFill>
                <a:latin typeface="Inter SemiBold"/>
                <a:ea typeface="Inter SemiBold"/>
                <a:cs typeface="Inter SemiBold"/>
                <a:sym typeface="Inter SemiBold"/>
              </a:endParaRPr>
            </a:p>
          </p:txBody>
        </p:sp>
      </p:grpSp>
      <p:grpSp>
        <p:nvGrpSpPr>
          <p:cNvPr id="92" name="Google Shape;92;p15"/>
          <p:cNvGrpSpPr/>
          <p:nvPr/>
        </p:nvGrpSpPr>
        <p:grpSpPr>
          <a:xfrm>
            <a:off x="3238500" y="1143000"/>
            <a:ext cx="2667000" cy="1638300"/>
            <a:chOff x="0" y="0"/>
            <a:chExt cx="2667000" cy="1638300"/>
          </a:xfrm>
        </p:grpSpPr>
        <p:sp>
          <p:nvSpPr>
            <p:cNvPr id="93" name="Google Shape;93;p15"/>
            <p:cNvSpPr/>
            <p:nvPr/>
          </p:nvSpPr>
          <p:spPr>
            <a:xfrm>
              <a:off x="0" y="0"/>
              <a:ext cx="2667000" cy="1638300"/>
            </a:xfrm>
            <a:prstGeom prst="roundRect">
              <a:avLst>
                <a:gd fmla="val 697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15"/>
            <p:cNvSpPr/>
            <p:nvPr/>
          </p:nvSpPr>
          <p:spPr>
            <a:xfrm>
              <a:off x="171450" y="171450"/>
              <a:ext cx="342900" cy="342900"/>
            </a:xfrm>
            <a:prstGeom prst="roundRect">
              <a:avLst>
                <a:gd fmla="val 22222"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txBox="1"/>
            <p:nvPr/>
          </p:nvSpPr>
          <p:spPr>
            <a:xfrm>
              <a:off x="171450" y="17145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475569"/>
                  </a:solidFill>
                  <a:latin typeface="Inter"/>
                  <a:ea typeface="Inter"/>
                  <a:cs typeface="Inter"/>
                  <a:sym typeface="Inter"/>
                </a:rPr>
                <a:t>02</a:t>
              </a:r>
              <a:endParaRPr b="1" sz="1200">
                <a:solidFill>
                  <a:srgbClr val="475569"/>
                </a:solidFill>
                <a:latin typeface="Inter"/>
                <a:ea typeface="Inter"/>
                <a:cs typeface="Inter"/>
                <a:sym typeface="Inter"/>
              </a:endParaRPr>
            </a:p>
          </p:txBody>
        </p:sp>
        <p:sp>
          <p:nvSpPr>
            <p:cNvPr id="96" name="Google Shape;96;p15"/>
            <p:cNvSpPr/>
            <p:nvPr/>
          </p:nvSpPr>
          <p:spPr>
            <a:xfrm>
              <a:off x="1695450" y="219075"/>
              <a:ext cx="8001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1695450" y="219075"/>
              <a:ext cx="800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2563EB"/>
                  </a:solidFill>
                  <a:latin typeface="Inter"/>
                  <a:ea typeface="Inter"/>
                  <a:cs typeface="Inter"/>
                  <a:sym typeface="Inter"/>
                </a:rPr>
                <a:t>GAMER</a:t>
              </a:r>
              <a:endParaRPr b="1" sz="850">
                <a:solidFill>
                  <a:srgbClr val="2563EB"/>
                </a:solidFill>
                <a:latin typeface="Inter"/>
                <a:ea typeface="Inter"/>
                <a:cs typeface="Inter"/>
                <a:sym typeface="Inter"/>
              </a:endParaRPr>
            </a:p>
          </p:txBody>
        </p:sp>
        <p:sp>
          <p:nvSpPr>
            <p:cNvPr id="98" name="Google Shape;98;p15"/>
            <p:cNvSpPr txBox="1"/>
            <p:nvPr/>
          </p:nvSpPr>
          <p:spPr>
            <a:xfrm>
              <a:off x="171450" y="647700"/>
              <a:ext cx="23241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1E293B"/>
                  </a:solidFill>
                  <a:latin typeface="Inter SemiBold"/>
                  <a:ea typeface="Inter SemiBold"/>
                  <a:cs typeface="Inter SemiBold"/>
                  <a:sym typeface="Inter SemiBold"/>
                </a:rPr>
                <a:t>Gamer selects a mod to view its details.</a:t>
              </a:r>
              <a:endParaRPr b="0" sz="1200">
                <a:solidFill>
                  <a:srgbClr val="1E293B"/>
                </a:solidFill>
                <a:latin typeface="Inter SemiBold"/>
                <a:ea typeface="Inter SemiBold"/>
                <a:cs typeface="Inter SemiBold"/>
                <a:sym typeface="Inter SemiBold"/>
              </a:endParaRPr>
            </a:p>
          </p:txBody>
        </p:sp>
      </p:grpSp>
      <p:grpSp>
        <p:nvGrpSpPr>
          <p:cNvPr id="99" name="Google Shape;99;p15"/>
          <p:cNvGrpSpPr/>
          <p:nvPr/>
        </p:nvGrpSpPr>
        <p:grpSpPr>
          <a:xfrm>
            <a:off x="6038850" y="1143000"/>
            <a:ext cx="2667000" cy="1638300"/>
            <a:chOff x="0" y="0"/>
            <a:chExt cx="2667000" cy="1638300"/>
          </a:xfrm>
        </p:grpSpPr>
        <p:sp>
          <p:nvSpPr>
            <p:cNvPr id="100" name="Google Shape;100;p15"/>
            <p:cNvSpPr/>
            <p:nvPr/>
          </p:nvSpPr>
          <p:spPr>
            <a:xfrm>
              <a:off x="0" y="0"/>
              <a:ext cx="2667000" cy="1638300"/>
            </a:xfrm>
            <a:prstGeom prst="roundRect">
              <a:avLst>
                <a:gd fmla="val 697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p:nvPr/>
          </p:nvSpPr>
          <p:spPr>
            <a:xfrm>
              <a:off x="171450" y="171450"/>
              <a:ext cx="342900" cy="342900"/>
            </a:xfrm>
            <a:prstGeom prst="roundRect">
              <a:avLst>
                <a:gd fmla="val 22222"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5"/>
            <p:cNvSpPr txBox="1"/>
            <p:nvPr/>
          </p:nvSpPr>
          <p:spPr>
            <a:xfrm>
              <a:off x="171450" y="17145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475569"/>
                  </a:solidFill>
                  <a:latin typeface="Inter"/>
                  <a:ea typeface="Inter"/>
                  <a:cs typeface="Inter"/>
                  <a:sym typeface="Inter"/>
                </a:rPr>
                <a:t>03</a:t>
              </a:r>
              <a:endParaRPr b="1" sz="1200">
                <a:solidFill>
                  <a:srgbClr val="475569"/>
                </a:solidFill>
                <a:latin typeface="Inter"/>
                <a:ea typeface="Inter"/>
                <a:cs typeface="Inter"/>
                <a:sym typeface="Inter"/>
              </a:endParaRPr>
            </a:p>
          </p:txBody>
        </p:sp>
        <p:sp>
          <p:nvSpPr>
            <p:cNvPr id="103" name="Google Shape;103;p15"/>
            <p:cNvSpPr/>
            <p:nvPr/>
          </p:nvSpPr>
          <p:spPr>
            <a:xfrm>
              <a:off x="1695450" y="219075"/>
              <a:ext cx="800100" cy="247800"/>
            </a:xfrm>
            <a:prstGeom prst="roundRect">
              <a:avLst>
                <a:gd fmla="val 50000" name="adj"/>
              </a:avLst>
            </a:prstGeom>
            <a:solidFill>
              <a:srgbClr val="FAF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5"/>
            <p:cNvSpPr txBox="1"/>
            <p:nvPr/>
          </p:nvSpPr>
          <p:spPr>
            <a:xfrm>
              <a:off x="1695450" y="219075"/>
              <a:ext cx="800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9333EA"/>
                  </a:solidFill>
                  <a:latin typeface="Inter"/>
                  <a:ea typeface="Inter"/>
                  <a:cs typeface="Inter"/>
                  <a:sym typeface="Inter"/>
                </a:rPr>
                <a:t>SYSTEM</a:t>
              </a:r>
              <a:endParaRPr b="1" sz="850">
                <a:solidFill>
                  <a:srgbClr val="9333EA"/>
                </a:solidFill>
                <a:latin typeface="Inter"/>
                <a:ea typeface="Inter"/>
                <a:cs typeface="Inter"/>
                <a:sym typeface="Inter"/>
              </a:endParaRPr>
            </a:p>
          </p:txBody>
        </p:sp>
        <p:sp>
          <p:nvSpPr>
            <p:cNvPr id="105" name="Google Shape;105;p15"/>
            <p:cNvSpPr txBox="1"/>
            <p:nvPr/>
          </p:nvSpPr>
          <p:spPr>
            <a:xfrm>
              <a:off x="171450" y="647700"/>
              <a:ext cx="23241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1E293B"/>
                  </a:solidFill>
                  <a:latin typeface="Inter SemiBold"/>
                  <a:ea typeface="Inter SemiBold"/>
                  <a:cs typeface="Inter SemiBold"/>
                  <a:sym typeface="Inter SemiBold"/>
                </a:rPr>
                <a:t>System retrieves available mod releases.</a:t>
              </a:r>
              <a:endParaRPr b="0" sz="1200">
                <a:solidFill>
                  <a:srgbClr val="1E293B"/>
                </a:solidFill>
                <a:latin typeface="Inter SemiBold"/>
                <a:ea typeface="Inter SemiBold"/>
                <a:cs typeface="Inter SemiBold"/>
                <a:sym typeface="Inter SemiBold"/>
              </a:endParaRPr>
            </a:p>
          </p:txBody>
        </p:sp>
      </p:grpSp>
      <p:grpSp>
        <p:nvGrpSpPr>
          <p:cNvPr id="106" name="Google Shape;106;p15"/>
          <p:cNvGrpSpPr/>
          <p:nvPr/>
        </p:nvGrpSpPr>
        <p:grpSpPr>
          <a:xfrm>
            <a:off x="438150" y="2933700"/>
            <a:ext cx="2667000" cy="1638300"/>
            <a:chOff x="0" y="0"/>
            <a:chExt cx="2667000" cy="1638300"/>
          </a:xfrm>
        </p:grpSpPr>
        <p:sp>
          <p:nvSpPr>
            <p:cNvPr id="107" name="Google Shape;107;p15"/>
            <p:cNvSpPr/>
            <p:nvPr/>
          </p:nvSpPr>
          <p:spPr>
            <a:xfrm>
              <a:off x="0" y="0"/>
              <a:ext cx="2667000" cy="1638300"/>
            </a:xfrm>
            <a:prstGeom prst="roundRect">
              <a:avLst>
                <a:gd fmla="val 697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5"/>
            <p:cNvSpPr/>
            <p:nvPr/>
          </p:nvSpPr>
          <p:spPr>
            <a:xfrm>
              <a:off x="171450" y="171450"/>
              <a:ext cx="342900" cy="342900"/>
            </a:xfrm>
            <a:prstGeom prst="roundRect">
              <a:avLst>
                <a:gd fmla="val 22222"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171450" y="17145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475569"/>
                  </a:solidFill>
                  <a:latin typeface="Inter"/>
                  <a:ea typeface="Inter"/>
                  <a:cs typeface="Inter"/>
                  <a:sym typeface="Inter"/>
                </a:rPr>
                <a:t>04</a:t>
              </a:r>
              <a:endParaRPr b="1" sz="1200">
                <a:solidFill>
                  <a:srgbClr val="475569"/>
                </a:solidFill>
                <a:latin typeface="Inter"/>
                <a:ea typeface="Inter"/>
                <a:cs typeface="Inter"/>
                <a:sym typeface="Inter"/>
              </a:endParaRPr>
            </a:p>
          </p:txBody>
        </p:sp>
        <p:sp>
          <p:nvSpPr>
            <p:cNvPr id="110" name="Google Shape;110;p15"/>
            <p:cNvSpPr/>
            <p:nvPr/>
          </p:nvSpPr>
          <p:spPr>
            <a:xfrm>
              <a:off x="1695450" y="219075"/>
              <a:ext cx="8001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txBox="1"/>
            <p:nvPr/>
          </p:nvSpPr>
          <p:spPr>
            <a:xfrm>
              <a:off x="1695450" y="219075"/>
              <a:ext cx="800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2563EB"/>
                  </a:solidFill>
                  <a:latin typeface="Inter"/>
                  <a:ea typeface="Inter"/>
                  <a:cs typeface="Inter"/>
                  <a:sym typeface="Inter"/>
                </a:rPr>
                <a:t>GAMER</a:t>
              </a:r>
              <a:endParaRPr b="1" sz="850">
                <a:solidFill>
                  <a:srgbClr val="2563EB"/>
                </a:solidFill>
                <a:latin typeface="Inter"/>
                <a:ea typeface="Inter"/>
                <a:cs typeface="Inter"/>
                <a:sym typeface="Inter"/>
              </a:endParaRPr>
            </a:p>
          </p:txBody>
        </p:sp>
        <p:sp>
          <p:nvSpPr>
            <p:cNvPr id="112" name="Google Shape;112;p15"/>
            <p:cNvSpPr txBox="1"/>
            <p:nvPr/>
          </p:nvSpPr>
          <p:spPr>
            <a:xfrm>
              <a:off x="171450" y="647700"/>
              <a:ext cx="23241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1E293B"/>
                  </a:solidFill>
                  <a:latin typeface="Inter SemiBold"/>
                  <a:ea typeface="Inter SemiBold"/>
                  <a:cs typeface="Inter SemiBold"/>
                  <a:sym typeface="Inter SemiBold"/>
                </a:rPr>
                <a:t>Gamer selects a game version.</a:t>
              </a:r>
              <a:endParaRPr b="0" sz="1200">
                <a:solidFill>
                  <a:srgbClr val="1E293B"/>
                </a:solidFill>
                <a:latin typeface="Inter SemiBold"/>
                <a:ea typeface="Inter SemiBold"/>
                <a:cs typeface="Inter SemiBold"/>
                <a:sym typeface="Inter SemiBold"/>
              </a:endParaRPr>
            </a:p>
          </p:txBody>
        </p:sp>
      </p:grpSp>
      <p:grpSp>
        <p:nvGrpSpPr>
          <p:cNvPr id="113" name="Google Shape;113;p15"/>
          <p:cNvGrpSpPr/>
          <p:nvPr/>
        </p:nvGrpSpPr>
        <p:grpSpPr>
          <a:xfrm>
            <a:off x="3238500" y="2933700"/>
            <a:ext cx="2667000" cy="1638300"/>
            <a:chOff x="0" y="0"/>
            <a:chExt cx="2667000" cy="1638300"/>
          </a:xfrm>
        </p:grpSpPr>
        <p:sp>
          <p:nvSpPr>
            <p:cNvPr id="114" name="Google Shape;114;p15"/>
            <p:cNvSpPr/>
            <p:nvPr/>
          </p:nvSpPr>
          <p:spPr>
            <a:xfrm>
              <a:off x="0" y="0"/>
              <a:ext cx="2667000" cy="1638300"/>
            </a:xfrm>
            <a:prstGeom prst="roundRect">
              <a:avLst>
                <a:gd fmla="val 697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5"/>
            <p:cNvSpPr/>
            <p:nvPr/>
          </p:nvSpPr>
          <p:spPr>
            <a:xfrm>
              <a:off x="171450" y="171450"/>
              <a:ext cx="342900" cy="342900"/>
            </a:xfrm>
            <a:prstGeom prst="roundRect">
              <a:avLst>
                <a:gd fmla="val 22222"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5"/>
            <p:cNvSpPr txBox="1"/>
            <p:nvPr/>
          </p:nvSpPr>
          <p:spPr>
            <a:xfrm>
              <a:off x="171450" y="17145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475569"/>
                  </a:solidFill>
                  <a:latin typeface="Inter"/>
                  <a:ea typeface="Inter"/>
                  <a:cs typeface="Inter"/>
                  <a:sym typeface="Inter"/>
                </a:rPr>
                <a:t>05</a:t>
              </a:r>
              <a:endParaRPr b="1" sz="1200">
                <a:solidFill>
                  <a:srgbClr val="475569"/>
                </a:solidFill>
                <a:latin typeface="Inter"/>
                <a:ea typeface="Inter"/>
                <a:cs typeface="Inter"/>
                <a:sym typeface="Inter"/>
              </a:endParaRPr>
            </a:p>
          </p:txBody>
        </p:sp>
        <p:sp>
          <p:nvSpPr>
            <p:cNvPr id="117" name="Google Shape;117;p15"/>
            <p:cNvSpPr/>
            <p:nvPr/>
          </p:nvSpPr>
          <p:spPr>
            <a:xfrm>
              <a:off x="1695450" y="219075"/>
              <a:ext cx="800100" cy="247800"/>
            </a:xfrm>
            <a:prstGeom prst="roundRect">
              <a:avLst>
                <a:gd fmla="val 50000" name="adj"/>
              </a:avLst>
            </a:prstGeom>
            <a:solidFill>
              <a:srgbClr val="FAF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5"/>
            <p:cNvSpPr txBox="1"/>
            <p:nvPr/>
          </p:nvSpPr>
          <p:spPr>
            <a:xfrm>
              <a:off x="1695450" y="219075"/>
              <a:ext cx="800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9333EA"/>
                  </a:solidFill>
                  <a:latin typeface="Inter"/>
                  <a:ea typeface="Inter"/>
                  <a:cs typeface="Inter"/>
                  <a:sym typeface="Inter"/>
                </a:rPr>
                <a:t>SYSTEM</a:t>
              </a:r>
              <a:endParaRPr b="1" sz="850">
                <a:solidFill>
                  <a:srgbClr val="9333EA"/>
                </a:solidFill>
                <a:latin typeface="Inter"/>
                <a:ea typeface="Inter"/>
                <a:cs typeface="Inter"/>
                <a:sym typeface="Inter"/>
              </a:endParaRPr>
            </a:p>
          </p:txBody>
        </p:sp>
        <p:sp>
          <p:nvSpPr>
            <p:cNvPr id="119" name="Google Shape;119;p15"/>
            <p:cNvSpPr txBox="1"/>
            <p:nvPr/>
          </p:nvSpPr>
          <p:spPr>
            <a:xfrm>
              <a:off x="171450" y="647700"/>
              <a:ext cx="23241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1E293B"/>
                  </a:solidFill>
                  <a:latin typeface="Inter SemiBold"/>
                  <a:ea typeface="Inter SemiBold"/>
                  <a:cs typeface="Inter SemiBold"/>
                  <a:sym typeface="Inter SemiBold"/>
                </a:rPr>
                <a:t>System checks whether the mod release is compatible.</a:t>
              </a:r>
              <a:endParaRPr b="0" sz="1200">
                <a:solidFill>
                  <a:srgbClr val="1E293B"/>
                </a:solidFill>
                <a:latin typeface="Inter SemiBold"/>
                <a:ea typeface="Inter SemiBold"/>
                <a:cs typeface="Inter SemiBold"/>
                <a:sym typeface="Inter SemiBold"/>
              </a:endParaRPr>
            </a:p>
          </p:txBody>
        </p:sp>
      </p:grpSp>
      <p:grpSp>
        <p:nvGrpSpPr>
          <p:cNvPr id="120" name="Google Shape;120;p15"/>
          <p:cNvGrpSpPr/>
          <p:nvPr/>
        </p:nvGrpSpPr>
        <p:grpSpPr>
          <a:xfrm>
            <a:off x="6038850" y="2933700"/>
            <a:ext cx="2667000" cy="1638300"/>
            <a:chOff x="0" y="0"/>
            <a:chExt cx="2667000" cy="1638300"/>
          </a:xfrm>
        </p:grpSpPr>
        <p:sp>
          <p:nvSpPr>
            <p:cNvPr id="121" name="Google Shape;121;p15"/>
            <p:cNvSpPr/>
            <p:nvPr/>
          </p:nvSpPr>
          <p:spPr>
            <a:xfrm>
              <a:off x="0" y="0"/>
              <a:ext cx="2667000" cy="1638300"/>
            </a:xfrm>
            <a:prstGeom prst="roundRect">
              <a:avLst>
                <a:gd fmla="val 697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5"/>
            <p:cNvSpPr/>
            <p:nvPr/>
          </p:nvSpPr>
          <p:spPr>
            <a:xfrm>
              <a:off x="171450" y="171450"/>
              <a:ext cx="342900" cy="342900"/>
            </a:xfrm>
            <a:prstGeom prst="roundRect">
              <a:avLst>
                <a:gd fmla="val 22222"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5"/>
            <p:cNvSpPr txBox="1"/>
            <p:nvPr/>
          </p:nvSpPr>
          <p:spPr>
            <a:xfrm>
              <a:off x="171450" y="17145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475569"/>
                  </a:solidFill>
                  <a:latin typeface="Inter"/>
                  <a:ea typeface="Inter"/>
                  <a:cs typeface="Inter"/>
                  <a:sym typeface="Inter"/>
                </a:rPr>
                <a:t>06</a:t>
              </a:r>
              <a:endParaRPr b="1" sz="1200">
                <a:solidFill>
                  <a:srgbClr val="475569"/>
                </a:solidFill>
                <a:latin typeface="Inter"/>
                <a:ea typeface="Inter"/>
                <a:cs typeface="Inter"/>
                <a:sym typeface="Inter"/>
              </a:endParaRPr>
            </a:p>
          </p:txBody>
        </p:sp>
        <p:sp>
          <p:nvSpPr>
            <p:cNvPr id="124" name="Google Shape;124;p15"/>
            <p:cNvSpPr/>
            <p:nvPr/>
          </p:nvSpPr>
          <p:spPr>
            <a:xfrm>
              <a:off x="1695450" y="219075"/>
              <a:ext cx="8001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5"/>
            <p:cNvSpPr txBox="1"/>
            <p:nvPr/>
          </p:nvSpPr>
          <p:spPr>
            <a:xfrm>
              <a:off x="1695450" y="219075"/>
              <a:ext cx="800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2563EB"/>
                  </a:solidFill>
                  <a:latin typeface="Inter"/>
                  <a:ea typeface="Inter"/>
                  <a:cs typeface="Inter"/>
                  <a:sym typeface="Inter"/>
                </a:rPr>
                <a:t>GAMER</a:t>
              </a:r>
              <a:endParaRPr b="1" sz="850">
                <a:solidFill>
                  <a:srgbClr val="2563EB"/>
                </a:solidFill>
                <a:latin typeface="Inter"/>
                <a:ea typeface="Inter"/>
                <a:cs typeface="Inter"/>
                <a:sym typeface="Inter"/>
              </a:endParaRPr>
            </a:p>
          </p:txBody>
        </p:sp>
        <p:sp>
          <p:nvSpPr>
            <p:cNvPr id="126" name="Google Shape;126;p15"/>
            <p:cNvSpPr txBox="1"/>
            <p:nvPr/>
          </p:nvSpPr>
          <p:spPr>
            <a:xfrm>
              <a:off x="171450" y="647700"/>
              <a:ext cx="23241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1E293B"/>
                  </a:solidFill>
                  <a:latin typeface="Inter SemiBold"/>
                  <a:ea typeface="Inter SemiBold"/>
                  <a:cs typeface="Inter SemiBold"/>
                  <a:sym typeface="Inter SemiBold"/>
                </a:rPr>
                <a:t>Gamer can view download information and leave a review.</a:t>
              </a:r>
              <a:endParaRPr b="0" sz="1200">
                <a:solidFill>
                  <a:srgbClr val="1E293B"/>
                </a:solidFill>
                <a:latin typeface="Inter SemiBold"/>
                <a:ea typeface="Inter SemiBold"/>
                <a:cs typeface="Inter SemiBold"/>
                <a:sym typeface="Inter SemiBold"/>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6"/>
          <p:cNvSpPr txBox="1"/>
          <p:nvPr/>
        </p:nvSpPr>
        <p:spPr>
          <a:xfrm>
            <a:off x="438150" y="285750"/>
            <a:ext cx="82677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0F172A"/>
                </a:solidFill>
                <a:latin typeface="Inter ExtraBold"/>
                <a:ea typeface="Inter ExtraBold"/>
                <a:cs typeface="Inter ExtraBold"/>
                <a:sym typeface="Inter ExtraBold"/>
              </a:rPr>
              <a:t>UML Use Case Diagram</a:t>
            </a:r>
            <a:endParaRPr b="0" sz="1100">
              <a:solidFill>
                <a:srgbClr val="64748B"/>
              </a:solidFill>
              <a:latin typeface="Inter"/>
              <a:ea typeface="Inter"/>
              <a:cs typeface="Inter"/>
              <a:sym typeface="Inter"/>
            </a:endParaRPr>
          </a:p>
        </p:txBody>
      </p:sp>
      <p:grpSp>
        <p:nvGrpSpPr>
          <p:cNvPr id="132" name="Google Shape;132;p16"/>
          <p:cNvGrpSpPr/>
          <p:nvPr/>
        </p:nvGrpSpPr>
        <p:grpSpPr>
          <a:xfrm>
            <a:off x="438150" y="1000125"/>
            <a:ext cx="3476700" cy="1047900"/>
            <a:chOff x="0" y="0"/>
            <a:chExt cx="3476700" cy="1047900"/>
          </a:xfrm>
        </p:grpSpPr>
        <p:sp>
          <p:nvSpPr>
            <p:cNvPr id="133" name="Google Shape;133;p16"/>
            <p:cNvSpPr/>
            <p:nvPr/>
          </p:nvSpPr>
          <p:spPr>
            <a:xfrm>
              <a:off x="0" y="0"/>
              <a:ext cx="3476700" cy="1047900"/>
            </a:xfrm>
            <a:prstGeom prst="roundRect">
              <a:avLst>
                <a:gd fmla="val 909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6"/>
            <p:cNvSpPr/>
            <p:nvPr/>
          </p:nvSpPr>
          <p:spPr>
            <a:xfrm>
              <a:off x="0" y="0"/>
              <a:ext cx="38100" cy="104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6"/>
            <p:cNvSpPr txBox="1"/>
            <p:nvPr/>
          </p:nvSpPr>
          <p:spPr>
            <a:xfrm>
              <a:off x="152400" y="114300"/>
              <a:ext cx="31908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F172A"/>
                  </a:solidFill>
                  <a:latin typeface="Inter"/>
                  <a:ea typeface="Inter"/>
                  <a:cs typeface="Inter"/>
                  <a:sym typeface="Inter"/>
                </a:rPr>
                <a:t>Primary Workflow</a:t>
              </a:r>
              <a:endParaRPr b="1" sz="1200">
                <a:solidFill>
                  <a:srgbClr val="0F172A"/>
                </a:solidFill>
                <a:latin typeface="Inter"/>
                <a:ea typeface="Inter"/>
                <a:cs typeface="Inter"/>
                <a:sym typeface="Inter"/>
              </a:endParaRPr>
            </a:p>
            <a:p>
              <a:pPr indent="0" lvl="0" marL="0" rtl="0" algn="l">
                <a:spcBef>
                  <a:spcPts val="450"/>
                </a:spcBef>
                <a:spcAft>
                  <a:spcPts val="0"/>
                </a:spcAft>
                <a:buNone/>
              </a:pPr>
              <a:r>
                <a:rPr lang="en" sz="950">
                  <a:solidFill>
                    <a:srgbClr val="334155"/>
                  </a:solidFill>
                  <a:latin typeface="Inter"/>
                  <a:ea typeface="Inter"/>
                  <a:cs typeface="Inter"/>
                  <a:sym typeface="Inter"/>
                </a:rPr>
                <a:t>Search for mods by game or category and verify compatibility across game versions. Access mod details, download links, and user reviews.</a:t>
              </a:r>
              <a:endParaRPr sz="950">
                <a:solidFill>
                  <a:srgbClr val="334155"/>
                </a:solidFill>
                <a:latin typeface="Inter"/>
                <a:ea typeface="Inter"/>
                <a:cs typeface="Inter"/>
                <a:sym typeface="Inter"/>
              </a:endParaRPr>
            </a:p>
          </p:txBody>
        </p:sp>
      </p:grpSp>
      <p:grpSp>
        <p:nvGrpSpPr>
          <p:cNvPr id="136" name="Google Shape;136;p16"/>
          <p:cNvGrpSpPr/>
          <p:nvPr/>
        </p:nvGrpSpPr>
        <p:grpSpPr>
          <a:xfrm>
            <a:off x="438150" y="2190750"/>
            <a:ext cx="3476700" cy="1571700"/>
            <a:chOff x="0" y="0"/>
            <a:chExt cx="3476700" cy="1571700"/>
          </a:xfrm>
        </p:grpSpPr>
        <p:sp>
          <p:nvSpPr>
            <p:cNvPr id="137" name="Google Shape;137;p16"/>
            <p:cNvSpPr/>
            <p:nvPr/>
          </p:nvSpPr>
          <p:spPr>
            <a:xfrm>
              <a:off x="0" y="0"/>
              <a:ext cx="3476700" cy="1571700"/>
            </a:xfrm>
            <a:prstGeom prst="roundRect">
              <a:avLst>
                <a:gd fmla="val 606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6"/>
            <p:cNvSpPr txBox="1"/>
            <p:nvPr/>
          </p:nvSpPr>
          <p:spPr>
            <a:xfrm>
              <a:off x="152400" y="114300"/>
              <a:ext cx="3190800" cy="134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F172A"/>
                  </a:solidFill>
                  <a:latin typeface="Inter"/>
                  <a:ea typeface="Inter"/>
                  <a:cs typeface="Inter"/>
                  <a:sym typeface="Inter"/>
                </a:rPr>
                <a:t>Actor Roles &amp; Capabilities</a:t>
              </a:r>
              <a:endParaRPr b="1" sz="1200">
                <a:solidFill>
                  <a:srgbClr val="0F172A"/>
                </a:solidFill>
                <a:latin typeface="Inter"/>
                <a:ea typeface="Inter"/>
                <a:cs typeface="Inter"/>
                <a:sym typeface="Inter"/>
              </a:endParaRPr>
            </a:p>
            <a:p>
              <a:pPr indent="0" lvl="0" marL="0" rtl="0" algn="l">
                <a:spcBef>
                  <a:spcPts val="600"/>
                </a:spcBef>
                <a:spcAft>
                  <a:spcPts val="0"/>
                </a:spcAft>
                <a:buNone/>
              </a:pPr>
              <a:r>
                <a:rPr b="1" lang="en" sz="950">
                  <a:solidFill>
                    <a:srgbClr val="2563EB"/>
                  </a:solidFill>
                  <a:latin typeface="Inter"/>
                  <a:ea typeface="Inter"/>
                  <a:cs typeface="Inter"/>
                  <a:sym typeface="Inter"/>
                </a:rPr>
                <a:t>Gamers:</a:t>
              </a:r>
              <a:r>
                <a:rPr lang="en" sz="950">
                  <a:solidFill>
                    <a:srgbClr val="334155"/>
                  </a:solidFill>
                  <a:latin typeface="Inter"/>
                  <a:ea typeface="Inter"/>
                  <a:cs typeface="Inter"/>
                  <a:sym typeface="Inter"/>
                </a:rPr>
                <a:t> Search mods, check compatibility, download &amp; submit ratings.</a:t>
              </a:r>
              <a:endParaRPr sz="950">
                <a:solidFill>
                  <a:srgbClr val="334155"/>
                </a:solidFill>
                <a:latin typeface="Inter"/>
                <a:ea typeface="Inter"/>
                <a:cs typeface="Inter"/>
                <a:sym typeface="Inter"/>
              </a:endParaRPr>
            </a:p>
            <a:p>
              <a:pPr indent="0" lvl="0" marL="0" rtl="0" algn="l">
                <a:spcBef>
                  <a:spcPts val="375"/>
                </a:spcBef>
                <a:spcAft>
                  <a:spcPts val="0"/>
                </a:spcAft>
                <a:buNone/>
              </a:pPr>
              <a:r>
                <a:rPr b="1" lang="en" sz="950">
                  <a:solidFill>
                    <a:srgbClr val="16A34A"/>
                  </a:solidFill>
                  <a:latin typeface="Inter"/>
                  <a:ea typeface="Inter"/>
                  <a:cs typeface="Inter"/>
                  <a:sym typeface="Inter"/>
                </a:rPr>
                <a:t>Developers:</a:t>
              </a:r>
              <a:r>
                <a:rPr lang="en" sz="950">
                  <a:solidFill>
                    <a:srgbClr val="334155"/>
                  </a:solidFill>
                  <a:latin typeface="Inter"/>
                  <a:ea typeface="Inter"/>
                  <a:cs typeface="Inter"/>
                  <a:sym typeface="Inter"/>
                </a:rPr>
                <a:t> Add mods, update details, manage releases &amp; compatibility.</a:t>
              </a:r>
              <a:endParaRPr sz="950">
                <a:solidFill>
                  <a:srgbClr val="334155"/>
                </a:solidFill>
                <a:latin typeface="Inter"/>
                <a:ea typeface="Inter"/>
                <a:cs typeface="Inter"/>
                <a:sym typeface="Inter"/>
              </a:endParaRPr>
            </a:p>
            <a:p>
              <a:pPr indent="0" lvl="0" marL="0" rtl="0" algn="l">
                <a:spcBef>
                  <a:spcPts val="375"/>
                </a:spcBef>
                <a:spcAft>
                  <a:spcPts val="0"/>
                </a:spcAft>
                <a:buNone/>
              </a:pPr>
              <a:r>
                <a:rPr b="1" lang="en" sz="950">
                  <a:solidFill>
                    <a:srgbClr val="D97706"/>
                  </a:solidFill>
                  <a:latin typeface="Inter"/>
                  <a:ea typeface="Inter"/>
                  <a:cs typeface="Inter"/>
                  <a:sym typeface="Inter"/>
                </a:rPr>
                <a:t>Admins:</a:t>
              </a:r>
              <a:r>
                <a:rPr lang="en" sz="950">
                  <a:solidFill>
                    <a:srgbClr val="334155"/>
                  </a:solidFill>
                  <a:latin typeface="Inter"/>
                  <a:ea typeface="Inter"/>
                  <a:cs typeface="Inter"/>
                  <a:sym typeface="Inter"/>
                </a:rPr>
                <a:t> Manage users, games, versions &amp; maintain database integrity.</a:t>
              </a:r>
              <a:endParaRPr sz="950">
                <a:solidFill>
                  <a:srgbClr val="334155"/>
                </a:solidFill>
                <a:latin typeface="Inter"/>
                <a:ea typeface="Inter"/>
                <a:cs typeface="Inter"/>
                <a:sym typeface="Inter"/>
              </a:endParaRPr>
            </a:p>
          </p:txBody>
        </p:sp>
      </p:grpSp>
      <p:grpSp>
        <p:nvGrpSpPr>
          <p:cNvPr id="139" name="Google Shape;139;p16"/>
          <p:cNvGrpSpPr/>
          <p:nvPr/>
        </p:nvGrpSpPr>
        <p:grpSpPr>
          <a:xfrm>
            <a:off x="438150" y="3905250"/>
            <a:ext cx="3476700" cy="904800"/>
            <a:chOff x="0" y="0"/>
            <a:chExt cx="3476700" cy="904800"/>
          </a:xfrm>
        </p:grpSpPr>
        <p:sp>
          <p:nvSpPr>
            <p:cNvPr id="140" name="Google Shape;140;p16"/>
            <p:cNvSpPr/>
            <p:nvPr/>
          </p:nvSpPr>
          <p:spPr>
            <a:xfrm>
              <a:off x="0" y="0"/>
              <a:ext cx="3476700" cy="904800"/>
            </a:xfrm>
            <a:prstGeom prst="roundRect">
              <a:avLst>
                <a:gd fmla="val 1052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6"/>
            <p:cNvSpPr txBox="1"/>
            <p:nvPr/>
          </p:nvSpPr>
          <p:spPr>
            <a:xfrm>
              <a:off x="152400" y="114300"/>
              <a:ext cx="31908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F172A"/>
                  </a:solidFill>
                  <a:latin typeface="Inter"/>
                  <a:ea typeface="Inter"/>
                  <a:cs typeface="Inter"/>
                  <a:sym typeface="Inter"/>
                </a:rPr>
                <a:t>Secondary Use Cases</a:t>
              </a:r>
              <a:endParaRPr b="1" sz="1200">
                <a:solidFill>
                  <a:srgbClr val="0F172A"/>
                </a:solidFill>
                <a:latin typeface="Inter"/>
                <a:ea typeface="Inter"/>
                <a:cs typeface="Inter"/>
                <a:sym typeface="Inter"/>
              </a:endParaRPr>
            </a:p>
            <a:p>
              <a:pPr indent="0" lvl="0" marL="0" rtl="0" algn="l">
                <a:spcBef>
                  <a:spcPts val="450"/>
                </a:spcBef>
                <a:spcAft>
                  <a:spcPts val="0"/>
                </a:spcAft>
                <a:buNone/>
              </a:pPr>
              <a:r>
                <a:rPr lang="en" sz="950">
                  <a:solidFill>
                    <a:srgbClr val="334155"/>
                  </a:solidFill>
                  <a:latin typeface="Inter"/>
                  <a:ea typeface="Inter"/>
                  <a:cs typeface="Inter"/>
                  <a:sym typeface="Inter"/>
                </a:rPr>
                <a:t>View popular mods, discover games with the most mods, and generate analytical reports across mod categories.</a:t>
              </a:r>
              <a:endParaRPr sz="950">
                <a:solidFill>
                  <a:srgbClr val="334155"/>
                </a:solidFill>
                <a:latin typeface="Inter"/>
                <a:ea typeface="Inter"/>
                <a:cs typeface="Inter"/>
                <a:sym typeface="Inter"/>
              </a:endParaRPr>
            </a:p>
          </p:txBody>
        </p:sp>
      </p:grpSp>
      <p:grpSp>
        <p:nvGrpSpPr>
          <p:cNvPr id="142" name="Google Shape;142;p16"/>
          <p:cNvGrpSpPr/>
          <p:nvPr/>
        </p:nvGrpSpPr>
        <p:grpSpPr>
          <a:xfrm>
            <a:off x="3914850" y="1000125"/>
            <a:ext cx="5130000" cy="3867150"/>
            <a:chOff x="-180900" y="0"/>
            <a:chExt cx="5130000" cy="3867150"/>
          </a:xfrm>
        </p:grpSpPr>
        <p:sp>
          <p:nvSpPr>
            <p:cNvPr id="143" name="Google Shape;143;p16"/>
            <p:cNvSpPr/>
            <p:nvPr/>
          </p:nvSpPr>
          <p:spPr>
            <a:xfrm>
              <a:off x="0" y="0"/>
              <a:ext cx="4610100" cy="3810000"/>
            </a:xfrm>
            <a:prstGeom prst="roundRect">
              <a:avLst>
                <a:gd fmla="val 25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44" name="Google Shape;144;p16"/>
            <p:cNvPicPr preferRelativeResize="0"/>
            <p:nvPr/>
          </p:nvPicPr>
          <p:blipFill rotWithShape="1">
            <a:blip r:embed="rId3">
              <a:alphaModFix/>
            </a:blip>
            <a:srcRect b="-13324" l="-3120" r="-6722" t="-9030"/>
            <a:stretch/>
          </p:blipFill>
          <p:spPr>
            <a:xfrm>
              <a:off x="-180900" y="57150"/>
              <a:ext cx="5130000" cy="3810000"/>
            </a:xfrm>
            <a:prstGeom prst="roundRect">
              <a:avLst>
                <a:gd fmla="val 2000" name="adj"/>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title"/>
          </p:nvPr>
        </p:nvSpPr>
        <p:spPr>
          <a:xfrm>
            <a:off x="311700" y="419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5833"/>
              <a:buFont typeface="Arial"/>
              <a:buNone/>
            </a:pPr>
            <a:r>
              <a:rPr lang="en" sz="2400">
                <a:solidFill>
                  <a:srgbClr val="0F172A"/>
                </a:solidFill>
                <a:latin typeface="Inter ExtraBold"/>
                <a:ea typeface="Inter ExtraBold"/>
                <a:cs typeface="Inter ExtraBold"/>
                <a:sym typeface="Inter ExtraBold"/>
              </a:rPr>
              <a:t>UML Use Case Diagram</a:t>
            </a:r>
            <a:endParaRPr sz="2400">
              <a:solidFill>
                <a:srgbClr val="0F172A"/>
              </a:solidFill>
              <a:latin typeface="Inter ExtraBold"/>
              <a:ea typeface="Inter ExtraBold"/>
              <a:cs typeface="Inter ExtraBold"/>
              <a:sym typeface="Inter ExtraBold"/>
            </a:endParaRPr>
          </a:p>
          <a:p>
            <a:pPr indent="0" lvl="0" marL="0" rtl="0" algn="l">
              <a:spcBef>
                <a:spcPts val="0"/>
              </a:spcBef>
              <a:spcAft>
                <a:spcPts val="0"/>
              </a:spcAft>
              <a:buNone/>
            </a:pPr>
            <a:r>
              <a:t/>
            </a:r>
            <a:endParaRPr/>
          </a:p>
        </p:txBody>
      </p:sp>
      <p:pic>
        <p:nvPicPr>
          <p:cNvPr id="150" name="Google Shape;150;p17" title="Gemini_Generated_Image_4ydae4ydae4ydae4.jpeg"/>
          <p:cNvPicPr preferRelativeResize="0"/>
          <p:nvPr/>
        </p:nvPicPr>
        <p:blipFill>
          <a:blip r:embed="rId3">
            <a:alphaModFix/>
          </a:blip>
          <a:stretch>
            <a:fillRect/>
          </a:stretch>
        </p:blipFill>
        <p:spPr>
          <a:xfrm>
            <a:off x="1076691" y="1118775"/>
            <a:ext cx="6892339" cy="38466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 name="Shape 154"/>
        <p:cNvGrpSpPr/>
        <p:nvPr/>
      </p:nvGrpSpPr>
      <p:grpSpPr>
        <a:xfrm>
          <a:off x="0" y="0"/>
          <a:ext cx="0" cy="0"/>
          <a:chOff x="0" y="0"/>
          <a:chExt cx="0" cy="0"/>
        </a:xfrm>
      </p:grpSpPr>
      <p:sp>
        <p:nvSpPr>
          <p:cNvPr id="155" name="Google Shape;155;p18"/>
          <p:cNvSpPr txBox="1"/>
          <p:nvPr/>
        </p:nvSpPr>
        <p:spPr>
          <a:xfrm>
            <a:off x="381000" y="285750"/>
            <a:ext cx="8382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0F172A"/>
                </a:solidFill>
                <a:latin typeface="Arial"/>
                <a:ea typeface="Arial"/>
                <a:cs typeface="Arial"/>
                <a:sym typeface="Arial"/>
              </a:rPr>
              <a:t>Relationship Schema</a:t>
            </a:r>
            <a:endParaRPr b="1" sz="2400">
              <a:solidFill>
                <a:srgbClr val="0F172A"/>
              </a:solidFill>
              <a:latin typeface="Arial"/>
              <a:ea typeface="Arial"/>
              <a:cs typeface="Arial"/>
              <a:sym typeface="Arial"/>
            </a:endParaRPr>
          </a:p>
        </p:txBody>
      </p:sp>
      <p:grpSp>
        <p:nvGrpSpPr>
          <p:cNvPr id="156" name="Google Shape;156;p18"/>
          <p:cNvGrpSpPr/>
          <p:nvPr/>
        </p:nvGrpSpPr>
        <p:grpSpPr>
          <a:xfrm>
            <a:off x="381000" y="857250"/>
            <a:ext cx="2952900" cy="4000500"/>
            <a:chOff x="0" y="0"/>
            <a:chExt cx="2952900" cy="4000500"/>
          </a:xfrm>
        </p:grpSpPr>
        <p:sp>
          <p:nvSpPr>
            <p:cNvPr id="157" name="Google Shape;157;p18"/>
            <p:cNvSpPr/>
            <p:nvPr/>
          </p:nvSpPr>
          <p:spPr>
            <a:xfrm>
              <a:off x="0" y="0"/>
              <a:ext cx="2952900" cy="4000500"/>
            </a:xfrm>
            <a:prstGeom prst="roundRect">
              <a:avLst>
                <a:gd fmla="val 258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8"/>
            <p:cNvSpPr/>
            <p:nvPr/>
          </p:nvSpPr>
          <p:spPr>
            <a:xfrm>
              <a:off x="0" y="0"/>
              <a:ext cx="2952900" cy="342900"/>
            </a:xfrm>
            <a:prstGeom prst="roundRect">
              <a:avLst>
                <a:gd fmla="val 22222"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8"/>
            <p:cNvSpPr/>
            <p:nvPr/>
          </p:nvSpPr>
          <p:spPr>
            <a:xfrm>
              <a:off x="0" y="0"/>
              <a:ext cx="2952900" cy="342900"/>
            </a:xfrm>
            <a:custGeom>
              <a:rect b="b" l="l" r="r" t="t"/>
              <a:pathLst>
                <a:path extrusionOk="0" h="120000" w="120000">
                  <a:moveTo>
                    <a:pt x="0" y="26667"/>
                  </a:moveTo>
                  <a:quadBezTo>
                    <a:pt x="0" y="0"/>
                    <a:pt x="3097" y="0"/>
                  </a:quadBezTo>
                  <a:lnTo>
                    <a:pt x="116903" y="0"/>
                  </a:lnTo>
                  <a:quadBezTo>
                    <a:pt x="120000" y="0"/>
                    <a:pt x="120000" y="26667"/>
                  </a:quadBezTo>
                  <a:lnTo>
                    <a:pt x="120000" y="120000"/>
                  </a:lnTo>
                  <a:lnTo>
                    <a:pt x="0" y="120000"/>
                  </a:lnTo>
                  <a:close/>
                </a:path>
              </a:pathLst>
            </a:cu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8"/>
            <p:cNvSpPr txBox="1"/>
            <p:nvPr/>
          </p:nvSpPr>
          <p:spPr>
            <a:xfrm>
              <a:off x="152400" y="0"/>
              <a:ext cx="26481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1E40AF"/>
                  </a:solidFill>
                  <a:latin typeface="Arial"/>
                  <a:ea typeface="Arial"/>
                  <a:cs typeface="Arial"/>
                  <a:sym typeface="Arial"/>
                </a:rPr>
                <a:t>Entities &amp; Attributes</a:t>
              </a:r>
              <a:endParaRPr b="1" sz="1000">
                <a:solidFill>
                  <a:srgbClr val="1E40AF"/>
                </a:solidFill>
                <a:latin typeface="Arial"/>
                <a:ea typeface="Arial"/>
                <a:cs typeface="Arial"/>
                <a:sym typeface="Arial"/>
              </a:endParaRPr>
            </a:p>
          </p:txBody>
        </p:sp>
        <p:sp>
          <p:nvSpPr>
            <p:cNvPr id="161" name="Google Shape;161;p18"/>
            <p:cNvSpPr txBox="1"/>
            <p:nvPr/>
          </p:nvSpPr>
          <p:spPr>
            <a:xfrm>
              <a:off x="152400" y="419100"/>
              <a:ext cx="2648100" cy="3467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0F172A"/>
                  </a:solidFill>
                </a:rPr>
                <a:t>Users:</a:t>
              </a:r>
              <a:r>
                <a:rPr lang="en" sz="950">
                  <a:solidFill>
                    <a:srgbClr val="334155"/>
                  </a:solidFill>
                </a:rPr>
                <a:t> </a:t>
              </a:r>
              <a:r>
                <a:rPr lang="en" sz="850">
                  <a:solidFill>
                    <a:srgbClr val="475569"/>
                  </a:solidFill>
                </a:rPr>
                <a:t>user_id, username, email, role, joined_date</a:t>
              </a:r>
              <a:endParaRPr sz="950">
                <a:solidFill>
                  <a:srgbClr val="334155"/>
                </a:solidFill>
              </a:endParaRPr>
            </a:p>
            <a:p>
              <a:pPr indent="0" lvl="0" marL="0" rtl="0" algn="l">
                <a:spcBef>
                  <a:spcPts val="600"/>
                </a:spcBef>
                <a:spcAft>
                  <a:spcPts val="0"/>
                </a:spcAft>
                <a:buNone/>
              </a:pPr>
              <a:r>
                <a:rPr b="1" lang="en" sz="950">
                  <a:solidFill>
                    <a:srgbClr val="0F172A"/>
                  </a:solidFill>
                </a:rPr>
                <a:t>Games:</a:t>
              </a:r>
              <a:r>
                <a:rPr lang="en" sz="950">
                  <a:solidFill>
                    <a:srgbClr val="334155"/>
                  </a:solidFill>
                </a:rPr>
                <a:t> </a:t>
              </a:r>
              <a:r>
                <a:rPr lang="en" sz="850">
                  <a:solidFill>
                    <a:srgbClr val="475569"/>
                  </a:solidFill>
                </a:rPr>
                <a:t>game_id, title, developer, publisher, release_date</a:t>
              </a:r>
              <a:endParaRPr sz="950">
                <a:solidFill>
                  <a:srgbClr val="334155"/>
                </a:solidFill>
              </a:endParaRPr>
            </a:p>
            <a:p>
              <a:pPr indent="0" lvl="0" marL="0" rtl="0" algn="l">
                <a:spcBef>
                  <a:spcPts val="600"/>
                </a:spcBef>
                <a:spcAft>
                  <a:spcPts val="0"/>
                </a:spcAft>
                <a:buNone/>
              </a:pPr>
              <a:r>
                <a:rPr b="1" lang="en" sz="950">
                  <a:solidFill>
                    <a:srgbClr val="0F172A"/>
                  </a:solidFill>
                </a:rPr>
                <a:t>Game_Versions:</a:t>
              </a:r>
              <a:r>
                <a:rPr lang="en" sz="950">
                  <a:solidFill>
                    <a:srgbClr val="334155"/>
                  </a:solidFill>
                </a:rPr>
                <a:t> </a:t>
              </a:r>
              <a:r>
                <a:rPr lang="en" sz="850">
                  <a:solidFill>
                    <a:srgbClr val="475569"/>
                  </a:solidFill>
                </a:rPr>
                <a:t>game_version_id, game_id, version_number, release_date</a:t>
              </a:r>
              <a:endParaRPr sz="950">
                <a:solidFill>
                  <a:srgbClr val="334155"/>
                </a:solidFill>
              </a:endParaRPr>
            </a:p>
            <a:p>
              <a:pPr indent="0" lvl="0" marL="0" rtl="0" algn="l">
                <a:spcBef>
                  <a:spcPts val="600"/>
                </a:spcBef>
                <a:spcAft>
                  <a:spcPts val="0"/>
                </a:spcAft>
                <a:buNone/>
              </a:pPr>
              <a:r>
                <a:rPr b="1" lang="en" sz="950">
                  <a:solidFill>
                    <a:srgbClr val="0F172A"/>
                  </a:solidFill>
                </a:rPr>
                <a:t>Mods:</a:t>
              </a:r>
              <a:r>
                <a:rPr lang="en" sz="950">
                  <a:solidFill>
                    <a:srgbClr val="334155"/>
                  </a:solidFill>
                </a:rPr>
                <a:t> </a:t>
              </a:r>
              <a:r>
                <a:rPr lang="en" sz="850">
                  <a:solidFill>
                    <a:srgbClr val="475569"/>
                  </a:solidFill>
                </a:rPr>
                <a:t>mod_id, game_id, creator_id, title, description, category, status, created_at</a:t>
              </a:r>
              <a:endParaRPr sz="950">
                <a:solidFill>
                  <a:srgbClr val="334155"/>
                </a:solidFill>
              </a:endParaRPr>
            </a:p>
            <a:p>
              <a:pPr indent="0" lvl="0" marL="0" rtl="0" algn="l">
                <a:spcBef>
                  <a:spcPts val="600"/>
                </a:spcBef>
                <a:spcAft>
                  <a:spcPts val="0"/>
                </a:spcAft>
                <a:buNone/>
              </a:pPr>
              <a:r>
                <a:rPr b="1" lang="en" sz="950">
                  <a:solidFill>
                    <a:srgbClr val="0F172A"/>
                  </a:solidFill>
                </a:rPr>
                <a:t>Mod_Releases:</a:t>
              </a:r>
              <a:r>
                <a:rPr lang="en" sz="950">
                  <a:solidFill>
                    <a:srgbClr val="334155"/>
                  </a:solidFill>
                </a:rPr>
                <a:t> </a:t>
              </a:r>
              <a:r>
                <a:rPr lang="en" sz="850">
                  <a:solidFill>
                    <a:srgbClr val="475569"/>
                  </a:solidFill>
                </a:rPr>
                <a:t>release_id, mod_id, version_tag, download_url, file_size_mb, download_count, uploaded_at</a:t>
              </a:r>
              <a:endParaRPr sz="950">
                <a:solidFill>
                  <a:srgbClr val="334155"/>
                </a:solidFill>
              </a:endParaRPr>
            </a:p>
            <a:p>
              <a:pPr indent="0" lvl="0" marL="0" rtl="0" algn="l">
                <a:spcBef>
                  <a:spcPts val="600"/>
                </a:spcBef>
                <a:spcAft>
                  <a:spcPts val="0"/>
                </a:spcAft>
                <a:buNone/>
              </a:pPr>
              <a:r>
                <a:rPr b="1" lang="en" sz="950">
                  <a:solidFill>
                    <a:srgbClr val="0F172A"/>
                  </a:solidFill>
                </a:rPr>
                <a:t>Compatibility:</a:t>
              </a:r>
              <a:r>
                <a:rPr lang="en" sz="950">
                  <a:solidFill>
                    <a:srgbClr val="334155"/>
                  </a:solidFill>
                </a:rPr>
                <a:t> </a:t>
              </a:r>
              <a:r>
                <a:rPr lang="en" sz="850">
                  <a:solidFill>
                    <a:srgbClr val="475569"/>
                  </a:solidFill>
                </a:rPr>
                <a:t>release_id, game_version_id, is_compatible, tested_date</a:t>
              </a:r>
              <a:endParaRPr sz="950">
                <a:solidFill>
                  <a:srgbClr val="334155"/>
                </a:solidFill>
              </a:endParaRPr>
            </a:p>
            <a:p>
              <a:pPr indent="0" lvl="0" marL="0" rtl="0" algn="l">
                <a:spcBef>
                  <a:spcPts val="600"/>
                </a:spcBef>
                <a:spcAft>
                  <a:spcPts val="0"/>
                </a:spcAft>
                <a:buNone/>
              </a:pPr>
              <a:r>
                <a:rPr b="1" lang="en" sz="950">
                  <a:solidFill>
                    <a:srgbClr val="0F172A"/>
                  </a:solidFill>
                </a:rPr>
                <a:t>Reviews:</a:t>
              </a:r>
              <a:r>
                <a:rPr lang="en" sz="950">
                  <a:solidFill>
                    <a:srgbClr val="334155"/>
                  </a:solidFill>
                </a:rPr>
                <a:t> </a:t>
              </a:r>
              <a:r>
                <a:rPr lang="en" sz="850">
                  <a:solidFill>
                    <a:srgbClr val="475569"/>
                  </a:solidFill>
                </a:rPr>
                <a:t>review_id, user_id, mod_id, rating, comment, review_date</a:t>
              </a:r>
              <a:endParaRPr sz="950">
                <a:solidFill>
                  <a:srgbClr val="334155"/>
                </a:solidFill>
              </a:endParaRPr>
            </a:p>
          </p:txBody>
        </p:sp>
      </p:grpSp>
      <p:grpSp>
        <p:nvGrpSpPr>
          <p:cNvPr id="162" name="Google Shape;162;p18"/>
          <p:cNvGrpSpPr/>
          <p:nvPr/>
        </p:nvGrpSpPr>
        <p:grpSpPr>
          <a:xfrm>
            <a:off x="3476625" y="857250"/>
            <a:ext cx="2667000" cy="4000500"/>
            <a:chOff x="0" y="0"/>
            <a:chExt cx="2667000" cy="4000500"/>
          </a:xfrm>
        </p:grpSpPr>
        <p:sp>
          <p:nvSpPr>
            <p:cNvPr id="163" name="Google Shape;163;p18"/>
            <p:cNvSpPr/>
            <p:nvPr/>
          </p:nvSpPr>
          <p:spPr>
            <a:xfrm>
              <a:off x="0" y="0"/>
              <a:ext cx="2667000" cy="4000500"/>
            </a:xfrm>
            <a:prstGeom prst="roundRect">
              <a:avLst>
                <a:gd fmla="val 285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8"/>
            <p:cNvSpPr/>
            <p:nvPr/>
          </p:nvSpPr>
          <p:spPr>
            <a:xfrm>
              <a:off x="0" y="0"/>
              <a:ext cx="2667000" cy="342900"/>
            </a:xfrm>
            <a:custGeom>
              <a:rect b="b" l="l" r="r" t="t"/>
              <a:pathLst>
                <a:path extrusionOk="0" h="120000" w="120000">
                  <a:moveTo>
                    <a:pt x="0" y="26667"/>
                  </a:moveTo>
                  <a:quadBezTo>
                    <a:pt x="0" y="0"/>
                    <a:pt x="3429" y="0"/>
                  </a:quadBezTo>
                  <a:lnTo>
                    <a:pt x="116571" y="0"/>
                  </a:lnTo>
                  <a:quadBezTo>
                    <a:pt x="120000" y="0"/>
                    <a:pt x="120000" y="26667"/>
                  </a:quadBezTo>
                  <a:lnTo>
                    <a:pt x="120000" y="120000"/>
                  </a:lnTo>
                  <a:lnTo>
                    <a:pt x="0" y="120000"/>
                  </a:lnTo>
                  <a:close/>
                </a:path>
              </a:pathLst>
            </a:cu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8"/>
            <p:cNvSpPr txBox="1"/>
            <p:nvPr/>
          </p:nvSpPr>
          <p:spPr>
            <a:xfrm>
              <a:off x="152400" y="0"/>
              <a:ext cx="23622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166534"/>
                  </a:solidFill>
                  <a:latin typeface="Arial"/>
                  <a:ea typeface="Arial"/>
                  <a:cs typeface="Arial"/>
                  <a:sym typeface="Arial"/>
                </a:rPr>
                <a:t>Relationships</a:t>
              </a:r>
              <a:endParaRPr b="1" sz="1000">
                <a:solidFill>
                  <a:srgbClr val="166534"/>
                </a:solidFill>
                <a:latin typeface="Arial"/>
                <a:ea typeface="Arial"/>
                <a:cs typeface="Arial"/>
                <a:sym typeface="Arial"/>
              </a:endParaRPr>
            </a:p>
          </p:txBody>
        </p:sp>
        <p:sp>
          <p:nvSpPr>
            <p:cNvPr id="166" name="Google Shape;166;p18"/>
            <p:cNvSpPr txBox="1"/>
            <p:nvPr/>
          </p:nvSpPr>
          <p:spPr>
            <a:xfrm>
              <a:off x="152400" y="419100"/>
              <a:ext cx="2362200" cy="3467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0F172A"/>
                  </a:solidFill>
                </a:rPr>
                <a:t>Authors </a:t>
              </a:r>
              <a:r>
                <a:rPr b="1" lang="en" sz="800">
                  <a:solidFill>
                    <a:srgbClr val="166534"/>
                  </a:solidFill>
                </a:rPr>
                <a:t>1:N</a:t>
              </a:r>
              <a:endParaRPr b="1" sz="950">
                <a:solidFill>
                  <a:srgbClr val="0F172A"/>
                </a:solidFill>
              </a:endParaRPr>
            </a:p>
            <a:p>
              <a:pPr indent="0" lvl="0" marL="0" rtl="0" algn="l">
                <a:spcBef>
                  <a:spcPts val="150"/>
                </a:spcBef>
                <a:spcAft>
                  <a:spcPts val="0"/>
                </a:spcAft>
                <a:buNone/>
              </a:pPr>
              <a:r>
                <a:rPr lang="en" sz="850">
                  <a:solidFill>
                    <a:srgbClr val="64748B"/>
                  </a:solidFill>
                </a:rPr>
                <a:t>Users → Mods</a:t>
              </a:r>
              <a:endParaRPr sz="850">
                <a:solidFill>
                  <a:srgbClr val="64748B"/>
                </a:solidFill>
              </a:endParaRPr>
            </a:p>
            <a:p>
              <a:pPr indent="0" lvl="0" marL="0" rtl="0" algn="l">
                <a:spcBef>
                  <a:spcPts val="750"/>
                </a:spcBef>
                <a:spcAft>
                  <a:spcPts val="0"/>
                </a:spcAft>
                <a:buNone/>
              </a:pPr>
              <a:r>
                <a:rPr b="1" lang="en" sz="950">
                  <a:solidFill>
                    <a:srgbClr val="0F172A"/>
                  </a:solidFill>
                </a:rPr>
                <a:t>Applies_To </a:t>
              </a:r>
              <a:r>
                <a:rPr b="1" lang="en" sz="800">
                  <a:solidFill>
                    <a:srgbClr val="166534"/>
                  </a:solidFill>
                </a:rPr>
                <a:t>1:N</a:t>
              </a:r>
              <a:endParaRPr b="1" sz="950">
                <a:solidFill>
                  <a:srgbClr val="0F172A"/>
                </a:solidFill>
              </a:endParaRPr>
            </a:p>
            <a:p>
              <a:pPr indent="0" lvl="0" marL="0" rtl="0" algn="l">
                <a:spcBef>
                  <a:spcPts val="150"/>
                </a:spcBef>
                <a:spcAft>
                  <a:spcPts val="0"/>
                </a:spcAft>
                <a:buNone/>
              </a:pPr>
              <a:r>
                <a:rPr lang="en" sz="850">
                  <a:solidFill>
                    <a:srgbClr val="64748B"/>
                  </a:solidFill>
                </a:rPr>
                <a:t>Games → Mods</a:t>
              </a:r>
              <a:endParaRPr sz="850">
                <a:solidFill>
                  <a:srgbClr val="64748B"/>
                </a:solidFill>
              </a:endParaRPr>
            </a:p>
            <a:p>
              <a:pPr indent="0" lvl="0" marL="0" rtl="0" algn="l">
                <a:spcBef>
                  <a:spcPts val="750"/>
                </a:spcBef>
                <a:spcAft>
                  <a:spcPts val="0"/>
                </a:spcAft>
                <a:buNone/>
              </a:pPr>
              <a:r>
                <a:rPr b="1" lang="en" sz="950">
                  <a:solidFill>
                    <a:srgbClr val="0F172A"/>
                  </a:solidFill>
                </a:rPr>
                <a:t>Has_Patches </a:t>
              </a:r>
              <a:r>
                <a:rPr b="1" lang="en" sz="800">
                  <a:solidFill>
                    <a:srgbClr val="166534"/>
                  </a:solidFill>
                </a:rPr>
                <a:t>1:N</a:t>
              </a:r>
              <a:endParaRPr b="1" sz="950">
                <a:solidFill>
                  <a:srgbClr val="0F172A"/>
                </a:solidFill>
              </a:endParaRPr>
            </a:p>
            <a:p>
              <a:pPr indent="0" lvl="0" marL="0" rtl="0" algn="l">
                <a:spcBef>
                  <a:spcPts val="150"/>
                </a:spcBef>
                <a:spcAft>
                  <a:spcPts val="0"/>
                </a:spcAft>
                <a:buNone/>
              </a:pPr>
              <a:r>
                <a:rPr lang="en" sz="850">
                  <a:solidFill>
                    <a:srgbClr val="64748B"/>
                  </a:solidFill>
                </a:rPr>
                <a:t>Games → Game_Versions</a:t>
              </a:r>
              <a:endParaRPr sz="850">
                <a:solidFill>
                  <a:srgbClr val="64748B"/>
                </a:solidFill>
              </a:endParaRPr>
            </a:p>
            <a:p>
              <a:pPr indent="0" lvl="0" marL="0" rtl="0" algn="l">
                <a:spcBef>
                  <a:spcPts val="750"/>
                </a:spcBef>
                <a:spcAft>
                  <a:spcPts val="0"/>
                </a:spcAft>
                <a:buNone/>
              </a:pPr>
              <a:r>
                <a:rPr b="1" lang="en" sz="950">
                  <a:solidFill>
                    <a:srgbClr val="0F172A"/>
                  </a:solidFill>
                </a:rPr>
                <a:t>Publishes_File </a:t>
              </a:r>
              <a:r>
                <a:rPr b="1" lang="en" sz="800">
                  <a:solidFill>
                    <a:srgbClr val="166534"/>
                  </a:solidFill>
                </a:rPr>
                <a:t>1:N</a:t>
              </a:r>
              <a:endParaRPr b="1" sz="950">
                <a:solidFill>
                  <a:srgbClr val="0F172A"/>
                </a:solidFill>
              </a:endParaRPr>
            </a:p>
            <a:p>
              <a:pPr indent="0" lvl="0" marL="0" rtl="0" algn="l">
                <a:spcBef>
                  <a:spcPts val="150"/>
                </a:spcBef>
                <a:spcAft>
                  <a:spcPts val="0"/>
                </a:spcAft>
                <a:buNone/>
              </a:pPr>
              <a:r>
                <a:rPr lang="en" sz="850">
                  <a:solidFill>
                    <a:srgbClr val="64748B"/>
                  </a:solidFill>
                </a:rPr>
                <a:t>Mods → Mod_Releases</a:t>
              </a:r>
              <a:endParaRPr sz="850">
                <a:solidFill>
                  <a:srgbClr val="64748B"/>
                </a:solidFill>
              </a:endParaRPr>
            </a:p>
            <a:p>
              <a:pPr indent="0" lvl="0" marL="0" rtl="0" algn="l">
                <a:spcBef>
                  <a:spcPts val="750"/>
                </a:spcBef>
                <a:spcAft>
                  <a:spcPts val="0"/>
                </a:spcAft>
                <a:buNone/>
              </a:pPr>
              <a:r>
                <a:rPr b="1" lang="en" sz="950">
                  <a:solidFill>
                    <a:srgbClr val="0F172A"/>
                  </a:solidFill>
                </a:rPr>
                <a:t>Compatible_With </a:t>
              </a:r>
              <a:r>
                <a:rPr b="1" lang="en" sz="800">
                  <a:solidFill>
                    <a:srgbClr val="854D0E"/>
                  </a:solidFill>
                </a:rPr>
                <a:t>M:N</a:t>
              </a:r>
              <a:endParaRPr b="1" sz="950">
                <a:solidFill>
                  <a:srgbClr val="0F172A"/>
                </a:solidFill>
              </a:endParaRPr>
            </a:p>
            <a:p>
              <a:pPr indent="0" lvl="0" marL="0" rtl="0" algn="l">
                <a:spcBef>
                  <a:spcPts val="150"/>
                </a:spcBef>
                <a:spcAft>
                  <a:spcPts val="0"/>
                </a:spcAft>
                <a:buNone/>
              </a:pPr>
              <a:r>
                <a:rPr lang="en" sz="850">
                  <a:solidFill>
                    <a:srgbClr val="64748B"/>
                  </a:solidFill>
                </a:rPr>
                <a:t>Mod_Releases ↔ Game_Versions (via Compatibility)</a:t>
              </a:r>
              <a:endParaRPr sz="850">
                <a:solidFill>
                  <a:srgbClr val="64748B"/>
                </a:solidFill>
              </a:endParaRPr>
            </a:p>
            <a:p>
              <a:pPr indent="0" lvl="0" marL="0" rtl="0" algn="l">
                <a:spcBef>
                  <a:spcPts val="750"/>
                </a:spcBef>
                <a:spcAft>
                  <a:spcPts val="0"/>
                </a:spcAft>
                <a:buNone/>
              </a:pPr>
              <a:r>
                <a:rPr b="1" lang="en" sz="950">
                  <a:solidFill>
                    <a:srgbClr val="0F172A"/>
                  </a:solidFill>
                </a:rPr>
                <a:t>Evaluates </a:t>
              </a:r>
              <a:r>
                <a:rPr b="1" lang="en" sz="800">
                  <a:solidFill>
                    <a:srgbClr val="854D0E"/>
                  </a:solidFill>
                </a:rPr>
                <a:t>M:N</a:t>
              </a:r>
              <a:endParaRPr b="1" sz="950">
                <a:solidFill>
                  <a:srgbClr val="0F172A"/>
                </a:solidFill>
              </a:endParaRPr>
            </a:p>
            <a:p>
              <a:pPr indent="0" lvl="0" marL="0" rtl="0" algn="l">
                <a:spcBef>
                  <a:spcPts val="150"/>
                </a:spcBef>
                <a:spcAft>
                  <a:spcPts val="0"/>
                </a:spcAft>
                <a:buNone/>
              </a:pPr>
              <a:r>
                <a:rPr lang="en" sz="850">
                  <a:solidFill>
                    <a:srgbClr val="64748B"/>
                  </a:solidFill>
                </a:rPr>
                <a:t>Users ↔ Mods (via Reviews)</a:t>
              </a:r>
              <a:endParaRPr sz="850">
                <a:solidFill>
                  <a:srgbClr val="64748B"/>
                </a:solidFill>
              </a:endParaRPr>
            </a:p>
          </p:txBody>
        </p:sp>
      </p:grpSp>
      <p:grpSp>
        <p:nvGrpSpPr>
          <p:cNvPr id="167" name="Google Shape;167;p18"/>
          <p:cNvGrpSpPr/>
          <p:nvPr/>
        </p:nvGrpSpPr>
        <p:grpSpPr>
          <a:xfrm>
            <a:off x="6286500" y="857250"/>
            <a:ext cx="2476500" cy="4000500"/>
            <a:chOff x="0" y="0"/>
            <a:chExt cx="2476500" cy="4000500"/>
          </a:xfrm>
        </p:grpSpPr>
        <p:sp>
          <p:nvSpPr>
            <p:cNvPr id="168" name="Google Shape;168;p18"/>
            <p:cNvSpPr/>
            <p:nvPr/>
          </p:nvSpPr>
          <p:spPr>
            <a:xfrm>
              <a:off x="0" y="0"/>
              <a:ext cx="2476500" cy="4000500"/>
            </a:xfrm>
            <a:prstGeom prst="roundRect">
              <a:avLst>
                <a:gd fmla="val 307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8"/>
            <p:cNvSpPr/>
            <p:nvPr/>
          </p:nvSpPr>
          <p:spPr>
            <a:xfrm>
              <a:off x="0" y="0"/>
              <a:ext cx="2476500" cy="342900"/>
            </a:xfrm>
            <a:custGeom>
              <a:rect b="b" l="l" r="r" t="t"/>
              <a:pathLst>
                <a:path extrusionOk="0" h="120000" w="120000">
                  <a:moveTo>
                    <a:pt x="0" y="26667"/>
                  </a:moveTo>
                  <a:quadBezTo>
                    <a:pt x="0" y="0"/>
                    <a:pt x="3692" y="0"/>
                  </a:quadBezTo>
                  <a:lnTo>
                    <a:pt x="116308" y="0"/>
                  </a:lnTo>
                  <a:quadBezTo>
                    <a:pt x="120000" y="0"/>
                    <a:pt x="120000" y="26667"/>
                  </a:quadBezTo>
                  <a:lnTo>
                    <a:pt x="120000" y="120000"/>
                  </a:lnTo>
                  <a:lnTo>
                    <a:pt x="0" y="120000"/>
                  </a:lnTo>
                  <a:close/>
                </a:path>
              </a:pathLst>
            </a:custGeom>
            <a:solidFill>
              <a:srgbClr val="FAF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8"/>
            <p:cNvSpPr txBox="1"/>
            <p:nvPr/>
          </p:nvSpPr>
          <p:spPr>
            <a:xfrm>
              <a:off x="152400" y="0"/>
              <a:ext cx="21717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6B21A8"/>
                  </a:solidFill>
                  <a:latin typeface="Arial"/>
                  <a:ea typeface="Arial"/>
                  <a:cs typeface="Arial"/>
                  <a:sym typeface="Arial"/>
                </a:rPr>
                <a:t>Keys &amp; Constraints</a:t>
              </a:r>
              <a:endParaRPr b="1" sz="1000">
                <a:solidFill>
                  <a:srgbClr val="6B21A8"/>
                </a:solidFill>
                <a:latin typeface="Arial"/>
                <a:ea typeface="Arial"/>
                <a:cs typeface="Arial"/>
                <a:sym typeface="Arial"/>
              </a:endParaRPr>
            </a:p>
          </p:txBody>
        </p:sp>
        <p:sp>
          <p:nvSpPr>
            <p:cNvPr id="171" name="Google Shape;171;p18"/>
            <p:cNvSpPr txBox="1"/>
            <p:nvPr/>
          </p:nvSpPr>
          <p:spPr>
            <a:xfrm>
              <a:off x="152400" y="419100"/>
              <a:ext cx="2171700" cy="3467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0F172A"/>
                  </a:solidFill>
                </a:rPr>
                <a:t>Primary Keys</a:t>
              </a:r>
              <a:endParaRPr b="1" sz="950">
                <a:solidFill>
                  <a:srgbClr val="0F172A"/>
                </a:solidFill>
              </a:endParaRPr>
            </a:p>
            <a:p>
              <a:pPr indent="0" lvl="0" marL="0" rtl="0" algn="l">
                <a:spcBef>
                  <a:spcPts val="300"/>
                </a:spcBef>
                <a:spcAft>
                  <a:spcPts val="0"/>
                </a:spcAft>
                <a:buNone/>
              </a:pPr>
              <a:r>
                <a:rPr lang="en" sz="850">
                  <a:solidFill>
                    <a:srgbClr val="6B21A8"/>
                  </a:solidFill>
                </a:rPr>
                <a:t>user_id, game_id, game_version_id, mod_id, release_id, review_id</a:t>
              </a:r>
              <a:endParaRPr sz="850">
                <a:solidFill>
                  <a:srgbClr val="6B21A8"/>
                </a:solidFill>
              </a:endParaRPr>
            </a:p>
            <a:p>
              <a:pPr indent="0" lvl="0" marL="0" rtl="0" algn="l">
                <a:spcBef>
                  <a:spcPts val="900"/>
                </a:spcBef>
                <a:spcAft>
                  <a:spcPts val="0"/>
                </a:spcAft>
                <a:buNone/>
              </a:pPr>
              <a:r>
                <a:rPr b="1" lang="en" sz="950">
                  <a:solidFill>
                    <a:srgbClr val="0F172A"/>
                  </a:solidFill>
                </a:rPr>
                <a:t>Composite Primary Key</a:t>
              </a:r>
              <a:endParaRPr b="1" sz="950">
                <a:solidFill>
                  <a:srgbClr val="0F172A"/>
                </a:solidFill>
              </a:endParaRPr>
            </a:p>
            <a:p>
              <a:pPr indent="0" lvl="0" marL="0" rtl="0" algn="l">
                <a:spcBef>
                  <a:spcPts val="300"/>
                </a:spcBef>
                <a:spcAft>
                  <a:spcPts val="0"/>
                </a:spcAft>
                <a:buNone/>
              </a:pPr>
              <a:r>
                <a:rPr lang="en" sz="850">
                  <a:solidFill>
                    <a:srgbClr val="0369A1"/>
                  </a:solidFill>
                </a:rPr>
                <a:t>Compatibility (release_id, game_version_id)</a:t>
              </a:r>
              <a:endParaRPr sz="850">
                <a:solidFill>
                  <a:srgbClr val="0369A1"/>
                </a:solidFill>
              </a:endParaRPr>
            </a:p>
            <a:p>
              <a:pPr indent="0" lvl="0" marL="0" rtl="0" algn="l">
                <a:spcBef>
                  <a:spcPts val="900"/>
                </a:spcBef>
                <a:spcAft>
                  <a:spcPts val="0"/>
                </a:spcAft>
                <a:buNone/>
              </a:pPr>
              <a:r>
                <a:rPr b="1" lang="en" sz="950">
                  <a:solidFill>
                    <a:srgbClr val="0F172A"/>
                  </a:solidFill>
                </a:rPr>
                <a:t>Foreign Keys</a:t>
              </a:r>
              <a:endParaRPr b="1" sz="950">
                <a:solidFill>
                  <a:srgbClr val="0F172A"/>
                </a:solidFill>
              </a:endParaRPr>
            </a:p>
            <a:p>
              <a:pPr indent="-282575" lvl="0" marL="457200" rtl="0" algn="l">
                <a:spcBef>
                  <a:spcPts val="450"/>
                </a:spcBef>
                <a:spcAft>
                  <a:spcPts val="0"/>
                </a:spcAft>
                <a:buClr>
                  <a:srgbClr val="475569"/>
                </a:buClr>
                <a:buSzPts val="850"/>
                <a:buFont typeface="Arial"/>
                <a:buChar char="●"/>
              </a:pPr>
              <a:r>
                <a:rPr lang="en" sz="850">
                  <a:solidFill>
                    <a:srgbClr val="1E293B"/>
                  </a:solidFill>
                </a:rPr>
                <a:t>Game_Versions</a:t>
              </a:r>
              <a:r>
                <a:rPr lang="en" sz="850">
                  <a:solidFill>
                    <a:srgbClr val="475569"/>
                  </a:solidFill>
                </a:rPr>
                <a:t> → Games</a:t>
              </a:r>
              <a:endParaRPr sz="850">
                <a:solidFill>
                  <a:srgbClr val="475569"/>
                </a:solidFill>
              </a:endParaRPr>
            </a:p>
            <a:p>
              <a:pPr indent="-282575" lvl="0" marL="457200" rtl="0" algn="l">
                <a:spcBef>
                  <a:spcPts val="300"/>
                </a:spcBef>
                <a:spcAft>
                  <a:spcPts val="0"/>
                </a:spcAft>
                <a:buClr>
                  <a:srgbClr val="475569"/>
                </a:buClr>
                <a:buSzPts val="850"/>
                <a:buFont typeface="Arial"/>
                <a:buChar char="●"/>
              </a:pPr>
              <a:r>
                <a:rPr lang="en" sz="850">
                  <a:solidFill>
                    <a:srgbClr val="1E293B"/>
                  </a:solidFill>
                </a:rPr>
                <a:t>Mods</a:t>
              </a:r>
              <a:r>
                <a:rPr lang="en" sz="850">
                  <a:solidFill>
                    <a:srgbClr val="475569"/>
                  </a:solidFill>
                </a:rPr>
                <a:t> → Games, Users</a:t>
              </a:r>
              <a:endParaRPr sz="850">
                <a:solidFill>
                  <a:srgbClr val="475569"/>
                </a:solidFill>
              </a:endParaRPr>
            </a:p>
            <a:p>
              <a:pPr indent="-282575" lvl="0" marL="457200" rtl="0" algn="l">
                <a:spcBef>
                  <a:spcPts val="300"/>
                </a:spcBef>
                <a:spcAft>
                  <a:spcPts val="0"/>
                </a:spcAft>
                <a:buClr>
                  <a:srgbClr val="475569"/>
                </a:buClr>
                <a:buSzPts val="850"/>
                <a:buFont typeface="Arial"/>
                <a:buChar char="●"/>
              </a:pPr>
              <a:r>
                <a:rPr lang="en" sz="850">
                  <a:solidFill>
                    <a:srgbClr val="1E293B"/>
                  </a:solidFill>
                </a:rPr>
                <a:t>Mod_Releases</a:t>
              </a:r>
              <a:r>
                <a:rPr lang="en" sz="850">
                  <a:solidFill>
                    <a:srgbClr val="475569"/>
                  </a:solidFill>
                </a:rPr>
                <a:t> → Mods</a:t>
              </a:r>
              <a:endParaRPr sz="850">
                <a:solidFill>
                  <a:srgbClr val="475569"/>
                </a:solidFill>
              </a:endParaRPr>
            </a:p>
            <a:p>
              <a:pPr indent="-282575" lvl="0" marL="457200" rtl="0" algn="l">
                <a:spcBef>
                  <a:spcPts val="300"/>
                </a:spcBef>
                <a:spcAft>
                  <a:spcPts val="0"/>
                </a:spcAft>
                <a:buClr>
                  <a:srgbClr val="475569"/>
                </a:buClr>
                <a:buSzPts val="850"/>
                <a:buFont typeface="Arial"/>
                <a:buChar char="●"/>
              </a:pPr>
              <a:r>
                <a:rPr lang="en" sz="850">
                  <a:solidFill>
                    <a:srgbClr val="1E293B"/>
                  </a:solidFill>
                </a:rPr>
                <a:t>Compatibility</a:t>
              </a:r>
              <a:r>
                <a:rPr lang="en" sz="850">
                  <a:solidFill>
                    <a:srgbClr val="475569"/>
                  </a:solidFill>
                </a:rPr>
                <a:t> → Mod_Releases, Game_Versions</a:t>
              </a:r>
              <a:endParaRPr sz="850">
                <a:solidFill>
                  <a:srgbClr val="475569"/>
                </a:solidFill>
              </a:endParaRPr>
            </a:p>
            <a:p>
              <a:pPr indent="-282575" lvl="0" marL="457200" rtl="0" algn="l">
                <a:spcBef>
                  <a:spcPts val="300"/>
                </a:spcBef>
                <a:spcAft>
                  <a:spcPts val="300"/>
                </a:spcAft>
                <a:buClr>
                  <a:srgbClr val="475569"/>
                </a:buClr>
                <a:buSzPts val="850"/>
                <a:buFont typeface="Arial"/>
                <a:buChar char="●"/>
              </a:pPr>
              <a:r>
                <a:rPr lang="en" sz="850">
                  <a:solidFill>
                    <a:srgbClr val="1E293B"/>
                  </a:solidFill>
                </a:rPr>
                <a:t>Reviews</a:t>
              </a:r>
              <a:r>
                <a:rPr lang="en" sz="850">
                  <a:solidFill>
                    <a:srgbClr val="475569"/>
                  </a:solidFill>
                </a:rPr>
                <a:t> → Users</a:t>
              </a:r>
              <a:endParaRPr sz="850">
                <a:solidFill>
                  <a:srgbClr val="475569"/>
                </a:solidFill>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